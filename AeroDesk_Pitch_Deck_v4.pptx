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notesSlides/notesSlide12.xml" ContentType="application/vnd.openxmlformats-officedocument.presentationml.notesSlide+xml"/>
  <Override PartName="/ppt/charts/chart2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3.xml" ContentType="application/vnd.openxmlformats-officedocument.drawingml.chart+xml"/>
  <Override PartName="/ppt/notesSlides/notesSlide1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1" r:id="rId2"/>
  </p:sldMasterIdLst>
  <p:notesMasterIdLst>
    <p:notesMasterId r:id="rId18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D9D9"/>
    <a:srgbClr val="677489"/>
    <a:srgbClr val="60A5FA"/>
    <a:srgbClr val="96A3B7"/>
    <a:srgbClr val="111629"/>
    <a:srgbClr val="1E2A4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BF19347-6823-4A07-B929-A44527AF2C19}" v="40" dt="2026-03-17T04:27:35.30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460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microsoft.com/office/2015/10/relationships/revisionInfo" Target="revisionInfo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($K)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 i="0" u="none" strike="noStrike">
                    <a:solidFill>
                      <a:srgbClr val="0F172A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Y0</c:v>
                </c:pt>
                <c:pt idx="1">
                  <c:v>Y1</c:v>
                </c:pt>
                <c:pt idx="2">
                  <c:v>Y2</c:v>
                </c:pt>
                <c:pt idx="3">
                  <c:v>Y3</c:v>
                </c:pt>
                <c:pt idx="4">
                  <c:v>Y4</c:v>
                </c:pt>
                <c:pt idx="5">
                  <c:v>Y5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308</c:v>
                </c:pt>
                <c:pt idx="2">
                  <c:v>1763</c:v>
                </c:pt>
                <c:pt idx="3">
                  <c:v>5992</c:v>
                </c:pt>
                <c:pt idx="4">
                  <c:v>13198</c:v>
                </c:pt>
                <c:pt idx="5">
                  <c:v>26095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28B-480F-A1FD-633D87740B2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EBITDA ($K)</c:v>
                </c:pt>
              </c:strCache>
            </c:strRef>
          </c:tx>
          <c:spPr>
            <a:solidFill>
              <a:srgbClr val="0F172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 i="0" u="none" strike="noStrike">
                    <a:solidFill>
                      <a:srgbClr val="0F172A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Y0</c:v>
                </c:pt>
                <c:pt idx="1">
                  <c:v>Y1</c:v>
                </c:pt>
                <c:pt idx="2">
                  <c:v>Y2</c:v>
                </c:pt>
                <c:pt idx="3">
                  <c:v>Y3</c:v>
                </c:pt>
                <c:pt idx="4">
                  <c:v>Y4</c:v>
                </c:pt>
                <c:pt idx="5">
                  <c:v>Y5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-65</c:v>
                </c:pt>
                <c:pt idx="1">
                  <c:v>-523</c:v>
                </c:pt>
                <c:pt idx="2">
                  <c:v>-203</c:v>
                </c:pt>
                <c:pt idx="3">
                  <c:v>2012</c:v>
                </c:pt>
                <c:pt idx="4">
                  <c:v>6808</c:v>
                </c:pt>
                <c:pt idx="5">
                  <c:v>16054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28B-480F-A1FD-633D87740B2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Allocation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563E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6A42-4040-A77A-8AA46685A364}"/>
              </c:ext>
            </c:extLst>
          </c:dPt>
          <c:dPt>
            <c:idx val="1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A42-4040-A77A-8AA46685A364}"/>
              </c:ext>
            </c:extLst>
          </c:dPt>
          <c:dPt>
            <c:idx val="2"/>
            <c:bubble3D val="0"/>
            <c:spPr>
              <a:solidFill>
                <a:srgbClr val="0F172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6A42-4040-A77A-8AA46685A364}"/>
              </c:ext>
            </c:extLst>
          </c:dPt>
          <c:dPt>
            <c:idx val="3"/>
            <c:bubble3D val="0"/>
            <c:spPr>
              <a:solidFill>
                <a:srgbClr val="0EA5E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6A42-4040-A77A-8AA46685A364}"/>
              </c:ext>
            </c:extLst>
          </c:dPt>
          <c:dPt>
            <c:idx val="4"/>
            <c:bubble3D val="0"/>
            <c:spPr>
              <a:solidFill>
                <a:srgbClr val="A855F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6A42-4040-A77A-8AA46685A364}"/>
              </c:ext>
            </c:extLst>
          </c:dPt>
          <c:dPt>
            <c:idx val="5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6A42-4040-A77A-8AA46685A364}"/>
              </c:ext>
            </c:extLst>
          </c:dPt>
          <c:dPt>
            <c:idx val="6"/>
            <c:bubble3D val="0"/>
            <c:spPr>
              <a:solidFill>
                <a:srgbClr val="64748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6A42-4040-A77A-8AA46685A364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F172A"/>
                      </a:solidFill>
                      <a:latin typeface="Arial"/>
                    </a:defRPr>
                  </a:pPr>
                  <a:endParaRPr lang="pt-B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6A42-4040-A77A-8AA46685A364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F172A"/>
                      </a:solidFill>
                      <a:latin typeface="Arial"/>
                    </a:defRPr>
                  </a:pPr>
                  <a:endParaRPr lang="pt-B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6A42-4040-A77A-8AA46685A364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F172A"/>
                      </a:solidFill>
                      <a:latin typeface="Arial"/>
                    </a:defRPr>
                  </a:pPr>
                  <a:endParaRPr lang="pt-B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6A42-4040-A77A-8AA46685A364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F172A"/>
                      </a:solidFill>
                      <a:latin typeface="Arial"/>
                    </a:defRPr>
                  </a:pPr>
                  <a:endParaRPr lang="pt-B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6A42-4040-A77A-8AA46685A364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F172A"/>
                      </a:solidFill>
                      <a:latin typeface="Arial"/>
                    </a:defRPr>
                  </a:pPr>
                  <a:endParaRPr lang="pt-B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6A42-4040-A77A-8AA46685A364}"/>
                </c:ext>
              </c:extLst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F172A"/>
                      </a:solidFill>
                      <a:latin typeface="Arial"/>
                    </a:defRPr>
                  </a:pPr>
                  <a:endParaRPr lang="pt-B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6A42-4040-A77A-8AA46685A364}"/>
                </c:ext>
              </c:extLst>
            </c:dLbl>
            <c:dLbl>
              <c:idx val="6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F172A"/>
                      </a:solidFill>
                      <a:latin typeface="Arial"/>
                    </a:defRPr>
                  </a:pPr>
                  <a:endParaRPr lang="pt-B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6A42-4040-A77A-8AA46685A364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Sheet1!$A$2:$A$8</c:f>
              <c:strCache>
                <c:ptCount val="7"/>
                <c:pt idx="0">
                  <c:v>Product Dev</c:v>
                </c:pt>
                <c:pt idx="1">
                  <c:v>Marketing</c:v>
                </c:pt>
                <c:pt idx="2">
                  <c:v>Salaries</c:v>
                </c:pt>
                <c:pt idx="3">
                  <c:v>Infrastructure</c:v>
                </c:pt>
                <c:pt idx="4">
                  <c:v>Design</c:v>
                </c:pt>
                <c:pt idx="5">
                  <c:v>Legal</c:v>
                </c:pt>
                <c:pt idx="6">
                  <c:v>Contingency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280</c:v>
                </c:pt>
                <c:pt idx="1">
                  <c:v>240</c:v>
                </c:pt>
                <c:pt idx="2">
                  <c:v>240</c:v>
                </c:pt>
                <c:pt idx="3">
                  <c:v>36</c:v>
                </c:pt>
                <c:pt idx="4">
                  <c:v>45</c:v>
                </c:pt>
                <c:pt idx="5">
                  <c:v>30</c:v>
                </c:pt>
                <c:pt idx="6">
                  <c:v>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6A42-4040-A77A-8AA46685A36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AeroDesk Revenue ($M)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3B82F6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Y1</c:v>
                </c:pt>
                <c:pt idx="1">
                  <c:v>Y2</c:v>
                </c:pt>
                <c:pt idx="2">
                  <c:v>Y3</c:v>
                </c:pt>
                <c:pt idx="3">
                  <c:v>Y4</c:v>
                </c:pt>
                <c:pt idx="4">
                  <c:v>Y5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0.31</c:v>
                </c:pt>
                <c:pt idx="1">
                  <c:v>1.76</c:v>
                </c:pt>
                <c:pt idx="2">
                  <c:v>5.99</c:v>
                </c:pt>
                <c:pt idx="3">
                  <c:v>13.2</c:v>
                </c:pt>
                <c:pt idx="4">
                  <c:v>26.1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F4C-4BFA-9A81-E24432F71B7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6350" cap="flat">
              <a:solidFill>
                <a:srgbClr val="1B2A4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solidFill>
          <a:srgbClr val="0F172A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94A3B8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F172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73252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solidFill>
          <a:srgbClr val="1116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E17834-3810-3695-B98A-40725199C0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563456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14AA5-EF10-F346-2BA2-F28E4072A7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375"/>
            <a:ext cx="6858000" cy="17907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1C1B69-BEE3-72DE-12A5-20237DEFF0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925"/>
            <a:ext cx="6858000" cy="12414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F4E69B-5140-6FC3-8B0E-5449D330DE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E914B-F9C8-4E06-A5D5-7AA34D1FB173}" type="datetimeFigureOut">
              <a:rPr lang="pt-BR" smtClean="0"/>
              <a:t>17/03/2026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D21F10-D231-BFD0-3B5D-ACD888B6EB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E7F529-F916-E65C-0436-B22222901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1BBF7-9673-4233-94F1-C64FFCBDF925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13969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solidFill>
          <a:srgbClr val="1116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1">
            <a:extLst>
              <a:ext uri="{FF2B5EF4-FFF2-40B4-BE49-F238E27FC236}">
                <a16:creationId xmlns:a16="http://schemas.microsoft.com/office/drawing/2014/main" id="{1A2DA65D-AC2D-8B50-A2F7-7060EA352274}"/>
              </a:ext>
            </a:extLst>
          </p:cNvPr>
          <p:cNvSpPr/>
          <p:nvPr userDrawn="1"/>
        </p:nvSpPr>
        <p:spPr>
          <a:xfrm>
            <a:off x="6400800" y="2743200"/>
            <a:ext cx="4572000" cy="4572000"/>
          </a:xfrm>
          <a:prstGeom prst="ellipse">
            <a:avLst/>
          </a:prstGeom>
          <a:solidFill>
            <a:srgbClr val="3B82F6">
              <a:alpha val="10000"/>
            </a:srgbClr>
          </a:solidFill>
          <a:ln/>
        </p:spPr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2F98B4F-0868-F9DE-F944-EA9EC72E65C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05840" y="2560320"/>
            <a:ext cx="5486400" cy="824400"/>
          </a:xfrm>
        </p:spPr>
        <p:txBody>
          <a:bodyPr anchor="ctr">
            <a:normAutofit/>
          </a:bodyPr>
          <a:lstStyle>
            <a:lvl1pPr>
              <a:buFontTx/>
              <a:buNone/>
              <a:defRPr sz="2000" i="1">
                <a:solidFill>
                  <a:srgbClr val="96A3B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Shape 0">
            <a:extLst>
              <a:ext uri="{FF2B5EF4-FFF2-40B4-BE49-F238E27FC236}">
                <a16:creationId xmlns:a16="http://schemas.microsoft.com/office/drawing/2014/main" id="{684ADB6A-44B8-45D4-06F1-2CA546D2C0B4}"/>
              </a:ext>
            </a:extLst>
          </p:cNvPr>
          <p:cNvSpPr/>
          <p:nvPr userDrawn="1"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2563EB">
              <a:alpha val="15000"/>
            </a:srgbClr>
          </a:solidFill>
          <a:ln/>
        </p:spPr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848A8A68-DA8C-46F5-D152-BB177D7B1F10}"/>
              </a:ext>
            </a:extLst>
          </p:cNvPr>
          <p:cNvSpPr/>
          <p:nvPr userDrawn="1"/>
        </p:nvSpPr>
        <p:spPr>
          <a:xfrm>
            <a:off x="1005840" y="3657600"/>
            <a:ext cx="2286000" cy="13716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9C1A186-0E4A-7025-04D3-232DB2BF565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4864220" y="606330"/>
            <a:ext cx="4673840" cy="3702240"/>
          </a:xfrm>
          <a:prstGeom prst="rect">
            <a:avLst/>
          </a:prstGeom>
        </p:spPr>
      </p:pic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9F54FC73-469C-314D-9ADF-2CC49FFE210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05840" y="3840480"/>
            <a:ext cx="7315200" cy="367200"/>
          </a:xfrm>
        </p:spPr>
        <p:txBody>
          <a:bodyPr anchor="ctr">
            <a:noAutofit/>
          </a:bodyPr>
          <a:lstStyle>
            <a:lvl1pPr marL="0" indent="0" algn="just">
              <a:lnSpc>
                <a:spcPct val="100000"/>
              </a:lnSpc>
              <a:spcBef>
                <a:spcPts val="0"/>
              </a:spcBef>
              <a:buFontTx/>
              <a:buNone/>
              <a:defRPr sz="900" b="0" i="0" kern="0" spc="300" baseline="0">
                <a:solidFill>
                  <a:srgbClr val="67748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PRESENTATION  |  DATE  |  CONFIDENTIAL</a:t>
            </a:r>
          </a:p>
        </p:txBody>
      </p:sp>
    </p:spTree>
    <p:extLst>
      <p:ext uri="{BB962C8B-B14F-4D97-AF65-F5344CB8AC3E}">
        <p14:creationId xmlns:p14="http://schemas.microsoft.com/office/powerpoint/2010/main" val="8170134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solidFill>
          <a:srgbClr val="1116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1AA65D2A-5573-6C84-0F42-8B71E7DFC6D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48640" y="4708440"/>
            <a:ext cx="8229600" cy="183600"/>
          </a:xfr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700" b="0" i="0" baseline="0">
                <a:solidFill>
                  <a:srgbClr val="67748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B75AA3CE-9429-6AA7-DE29-2D63B6C566F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48640" y="1097280"/>
            <a:ext cx="8229600" cy="273600"/>
          </a:xfr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 b="0" i="1" baseline="0">
                <a:solidFill>
                  <a:srgbClr val="60A5F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5BBD6F5F-51C6-C3FD-A2D7-9928FC9D3A5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8640" y="548640"/>
            <a:ext cx="8229600" cy="547200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3600" b="1" i="0" baseline="0">
                <a:solidFill>
                  <a:schemeClr val="bg1"/>
                </a:solidFill>
                <a:latin typeface="Trebuchet MS" panose="020B060302020202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9C1A186-0E4A-7025-04D3-232DB2BF565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4864220" y="606330"/>
            <a:ext cx="4673840" cy="3702240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9E483089-08A1-B053-53A9-963A44923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4868863"/>
            <a:ext cx="2057400" cy="27463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481BBF7-9673-4233-94F1-C64FFCBDF925}" type="slidenum">
              <a:rPr lang="pt-BR" smtClean="0"/>
              <a:pPr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408180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E30E1F-7F6F-EFE9-5885-87DC1BDC4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342686-BF3E-9B00-F1D6-8B01905C07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430F41-B219-C51F-AD12-D6840F6264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E914B-F9C8-4E06-A5D5-7AA34D1FB173}" type="datetimeFigureOut">
              <a:rPr lang="pt-BR" smtClean="0"/>
              <a:t>17/03/2026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77005C-4438-10EC-CC75-188F9D86E0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DA2E29-EF36-E9D9-6284-2D45141BE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1BBF7-9673-4233-94F1-C64FFCBDF925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38602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2A8076-E201-1774-92AB-337D0B518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700"/>
            <a:ext cx="7886700" cy="2139950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A8CF1C-FA02-3997-1F64-7108E7152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1700"/>
            <a:ext cx="7886700" cy="1125538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913231-19D7-7BA5-62A8-A92154BEB4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E914B-F9C8-4E06-A5D5-7AA34D1FB173}" type="datetimeFigureOut">
              <a:rPr lang="pt-BR" smtClean="0"/>
              <a:t>17/03/2026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2AC91A-79AE-8A33-6749-45559BCB2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35585C-4FAF-1C1C-8CCE-ACBDBB329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1BBF7-9673-4233-94F1-C64FFCBDF925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416863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54961-B5FC-B7E6-E4AE-CEC4BEB3F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CDA816-143E-7B8B-76FE-D04BF48654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70013"/>
            <a:ext cx="3867150" cy="32623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BF87C8-5470-AC84-60C6-009BCFAA5F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370013"/>
            <a:ext cx="3867150" cy="32623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B35B08-2633-2CC0-0AB4-0D612B5FE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E914B-F9C8-4E06-A5D5-7AA34D1FB173}" type="datetimeFigureOut">
              <a:rPr lang="pt-BR" smtClean="0"/>
              <a:t>17/03/2026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F091AA-4AD0-D59C-6ABA-9DFCB300A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1FED19-BE1E-218F-7DD7-53C8DB3B7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1BBF7-9673-4233-94F1-C64FFCBDF925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890562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8C966-9DB8-D4FC-7DA3-CE290913F6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274638"/>
            <a:ext cx="7886700" cy="99377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6B0F56-3C8F-948A-30A9-29A2A451B8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260475"/>
            <a:ext cx="3868737" cy="6191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FD4677-EB34-AEAC-978C-96FCDB87A9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1879600"/>
            <a:ext cx="3868737" cy="27622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31E99D3-9FFC-5695-D06B-2AB643715E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475"/>
            <a:ext cx="3887788" cy="6191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A54D16-6E45-6CB1-4835-2F0929BEBB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9600"/>
            <a:ext cx="3887788" cy="27622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827589-9F70-68B9-7633-A3A96B27E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E914B-F9C8-4E06-A5D5-7AA34D1FB173}" type="datetimeFigureOut">
              <a:rPr lang="pt-BR" smtClean="0"/>
              <a:t>17/03/2026</a:t>
            </a:fld>
            <a:endParaRPr lang="pt-B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7507C5-AF86-3B6E-0EF1-9BCB5EBC8B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57874C9-0112-C2F5-FA7A-88CA7B917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1BBF7-9673-4233-94F1-C64FFCBDF925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46934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D3470C-4574-9E63-75F0-2DE2ECF80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C0DB89-9EB9-2DD5-7EFE-B3D4CFF57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E914B-F9C8-4E06-A5D5-7AA34D1FB173}" type="datetimeFigureOut">
              <a:rPr lang="pt-BR" smtClean="0"/>
              <a:t>17/03/2026</a:t>
            </a:fld>
            <a:endParaRPr lang="pt-B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1FDB7C-E3A1-F426-DA04-B89AF5CC0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8FF7F8-B44F-7613-19E2-D109268B3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1BBF7-9673-4233-94F1-C64FFCBDF925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253733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C3D188-49E5-1085-C0AF-A4597C822D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E914B-F9C8-4E06-A5D5-7AA34D1FB173}" type="datetimeFigureOut">
              <a:rPr lang="pt-BR" smtClean="0"/>
              <a:t>17/03/2026</a:t>
            </a:fld>
            <a:endParaRPr lang="pt-B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EDEAF2-2C7E-59DF-A683-7C54AB462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582C67-CA92-A319-7332-C01BE38A2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1BBF7-9673-4233-94F1-C64FFCBDF925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75901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A8A90C-633C-7A7D-0B68-71729ECF23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B8577F-151F-C315-9910-E7D97E7104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741363"/>
            <a:ext cx="4629150" cy="36544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997FA8-4A43-0F8F-D9D1-669D764B09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1543050"/>
            <a:ext cx="2949575" cy="28590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EF17DE-8400-A9D7-C44B-349A8D1685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E914B-F9C8-4E06-A5D5-7AA34D1FB173}" type="datetimeFigureOut">
              <a:rPr lang="pt-BR" smtClean="0"/>
              <a:t>17/03/2026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745A03-5264-E5BB-0B6A-3525FB19D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6E239F-9B49-1803-FFA3-37B09A1EB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1BBF7-9673-4233-94F1-C64FFCBDF925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919722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2E8F4-90FC-98AE-D0C4-3A0E7E8501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827100-00A4-7921-581A-9D665E474C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741363"/>
            <a:ext cx="4629150" cy="36544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B4245A-DF07-1708-3843-249DCAC4C2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1543050"/>
            <a:ext cx="2949575" cy="28590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3FE052-FBEE-4C94-11BC-5EB7036BB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E914B-F9C8-4E06-A5D5-7AA34D1FB173}" type="datetimeFigureOut">
              <a:rPr lang="pt-BR" smtClean="0"/>
              <a:t>17/03/2026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EB0B86-AD24-1039-4A2B-C39B566A2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A085C2-C8C4-195C-5567-72DCE066A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1BBF7-9673-4233-94F1-C64FFCBDF925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994716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105F6-2604-69BC-9F69-41E76A5996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30A86F-A27D-5EA4-4CFC-C27344631E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6D8B68-FDE9-74B7-02D6-8254488DBE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E914B-F9C8-4E06-A5D5-7AA34D1FB173}" type="datetimeFigureOut">
              <a:rPr lang="pt-BR" smtClean="0"/>
              <a:t>17/03/2026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F21056-AD93-D6D4-3C72-D18BC0B6C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B62F6A-7D81-C6AC-9828-C38396719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1BBF7-9673-4233-94F1-C64FFCBDF925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415688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31E897-79AA-2C7B-4B0E-2A19D7FCFA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4638"/>
            <a:ext cx="1971675" cy="43576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D53EED-D996-CC78-6FF4-951DDC8A6C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4638"/>
            <a:ext cx="5762625" cy="43576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872D47-4A67-697E-CA83-ACAF2BD58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E914B-F9C8-4E06-A5D5-7AA34D1FB173}" type="datetimeFigureOut">
              <a:rPr lang="pt-BR" smtClean="0"/>
              <a:t>17/03/2026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F8760B-F5A9-B0A1-0D96-3CA92168FC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D872D9-48B8-F3AA-ECDC-6128CFC24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1BBF7-9673-4233-94F1-C64FFCBDF925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798056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5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4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 userDrawn="1"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A57B6A-FE05-5551-B2A7-D4CA7F522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FB71F2-2D80-8FAB-075D-79A985492C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A59892-1C6E-1D15-3F4F-9BC89AC509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0E914B-F9C8-4E06-A5D5-7AA34D1FB173}" type="datetimeFigureOut">
              <a:rPr lang="pt-BR" smtClean="0"/>
              <a:t>17/03/2026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57E61D-4BA1-BB19-6333-5F964740F5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295CE-E08A-1927-0CE4-1CE0F84787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81BBF7-9673-4233-94F1-C64FFCBDF925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483176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63" r:id="rId2"/>
    <p:sldLayoutId id="2147483664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8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8"/>
          <p:cNvSpPr/>
          <p:nvPr/>
        </p:nvSpPr>
        <p:spPr>
          <a:xfrm>
            <a:off x="1005840" y="3840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PRESENTATION  |  MARCH 2026  |  CONFIDENTIAL</a:t>
            </a:r>
            <a:endParaRPr lang="en-US" sz="900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3233CA9-556D-AA2E-572A-CEA2D3C77F7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The Modern Marketplace for</a:t>
            </a:r>
          </a:p>
          <a:p>
            <a:r>
              <a:rPr lang="en-US" dirty="0"/>
              <a:t>Pre-Owned Aircraft</a:t>
            </a:r>
            <a:endParaRPr lang="pt-BR" dirty="0"/>
          </a:p>
        </p:txBody>
      </p:sp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2563EB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2743200"/>
            <a:ext cx="4572000" cy="4572000"/>
          </a:xfrm>
          <a:prstGeom prst="ellipse">
            <a:avLst/>
          </a:prstGeom>
          <a:solidFill>
            <a:srgbClr val="3B82F6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731520"/>
            <a:ext cx="54864" cy="411480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234440"/>
            <a:ext cx="54864" cy="4114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737360"/>
            <a:ext cx="54864" cy="41148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46304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Aero</a:t>
            </a:r>
            <a:r>
              <a:rPr lang="en-US" sz="56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Desk</a:t>
            </a:r>
            <a:endParaRPr lang="en-US" sz="5600" dirty="0"/>
          </a:p>
        </p:txBody>
      </p:sp>
      <p:sp>
        <p:nvSpPr>
          <p:cNvPr id="9" name="Shape 7"/>
          <p:cNvSpPr/>
          <p:nvPr/>
        </p:nvSpPr>
        <p:spPr>
          <a:xfrm>
            <a:off x="1005840" y="3657600"/>
            <a:ext cx="2286000" cy="1371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F023491-28AC-F1DC-98A0-BEC7440B5F0B}"/>
              </a:ext>
            </a:extLst>
          </p:cNvPr>
          <p:cNvSpPr txBox="1"/>
          <p:nvPr/>
        </p:nvSpPr>
        <p:spPr>
          <a:xfrm rot="19501435">
            <a:off x="1475379" y="2297288"/>
            <a:ext cx="5415566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4800" dirty="0">
                <a:solidFill>
                  <a:srgbClr val="D9D9D9"/>
                </a:solidFill>
              </a:rPr>
              <a:t>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54864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Market at a Glance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548640" y="1097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massive, growing, and digitally underserved market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1645920"/>
            <a:ext cx="2560320" cy="1371600"/>
          </a:xfrm>
          <a:prstGeom prst="rect">
            <a:avLst/>
          </a:prstGeom>
          <a:solidFill>
            <a:srgbClr val="1B2A4A"/>
          </a:solidFill>
          <a:ln/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" y="1645920"/>
            <a:ext cx="54864" cy="13716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17830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$37.5B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731520" y="23774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Used Aircraft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(2024)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383280" y="1645920"/>
            <a:ext cx="2560320" cy="1371600"/>
          </a:xfrm>
          <a:prstGeom prst="rect">
            <a:avLst/>
          </a:prstGeom>
          <a:solidFill>
            <a:srgbClr val="1B2A4A"/>
          </a:solidFill>
          <a:ln/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383280" y="1645920"/>
            <a:ext cx="54864" cy="13716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2" name="Text 9"/>
          <p:cNvSpPr/>
          <p:nvPr/>
        </p:nvSpPr>
        <p:spPr>
          <a:xfrm>
            <a:off x="3566160" y="17830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6.97%</a:t>
            </a:r>
            <a:endParaRPr lang="en-US" sz="3200" dirty="0"/>
          </a:p>
        </p:txBody>
      </p:sp>
      <p:sp>
        <p:nvSpPr>
          <p:cNvPr id="13" name="Text 10"/>
          <p:cNvSpPr/>
          <p:nvPr/>
        </p:nvSpPr>
        <p:spPr>
          <a:xfrm>
            <a:off x="3566160" y="23774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 Projected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2035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217920" y="1645920"/>
            <a:ext cx="2560320" cy="1371600"/>
          </a:xfrm>
          <a:prstGeom prst="rect">
            <a:avLst/>
          </a:prstGeom>
          <a:solidFill>
            <a:srgbClr val="1B2A4A"/>
          </a:solidFill>
          <a:ln/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217920" y="1645920"/>
            <a:ext cx="54864" cy="1371600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16" name="Text 13"/>
          <p:cNvSpPr/>
          <p:nvPr/>
        </p:nvSpPr>
        <p:spPr>
          <a:xfrm>
            <a:off x="6400800" y="17830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60A5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9,824</a:t>
            </a:r>
            <a:endParaRPr lang="en-US" sz="3200" dirty="0"/>
          </a:p>
        </p:txBody>
      </p:sp>
      <p:sp>
        <p:nvSpPr>
          <p:cNvPr id="17" name="Text 14"/>
          <p:cNvSpPr/>
          <p:nvPr/>
        </p:nvSpPr>
        <p:spPr>
          <a:xfrm>
            <a:off x="6400800" y="23774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Brazil Executive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Aircraft Fleet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48640" y="3291840"/>
            <a:ext cx="2560320" cy="1371600"/>
          </a:xfrm>
          <a:prstGeom prst="rect">
            <a:avLst/>
          </a:prstGeom>
          <a:solidFill>
            <a:srgbClr val="1B2A4A"/>
          </a:solidFill>
          <a:ln/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48640" y="3291840"/>
            <a:ext cx="54864" cy="13716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" name="Text 17"/>
          <p:cNvSpPr/>
          <p:nvPr/>
        </p:nvSpPr>
        <p:spPr>
          <a:xfrm>
            <a:off x="731520" y="34290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~900K</a:t>
            </a:r>
            <a:endParaRPr lang="en-US" sz="3200" dirty="0"/>
          </a:p>
        </p:txBody>
      </p:sp>
      <p:sp>
        <p:nvSpPr>
          <p:cNvPr id="21" name="Text 18"/>
          <p:cNvSpPr/>
          <p:nvPr/>
        </p:nvSpPr>
        <p:spPr>
          <a:xfrm>
            <a:off x="731520" y="40233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Controller.com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Visits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3383280" y="3291840"/>
            <a:ext cx="2560320" cy="1371600"/>
          </a:xfrm>
          <a:prstGeom prst="rect">
            <a:avLst/>
          </a:prstGeom>
          <a:solidFill>
            <a:srgbClr val="1B2A4A"/>
          </a:solidFill>
          <a:ln/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3383280" y="3291840"/>
            <a:ext cx="54864" cy="137160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4" name="Text 21"/>
          <p:cNvSpPr/>
          <p:nvPr/>
        </p:nvSpPr>
        <p:spPr>
          <a:xfrm>
            <a:off x="3566160" y="34290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$55.5B</a:t>
            </a:r>
            <a:endParaRPr lang="en-US" sz="3200" dirty="0"/>
          </a:p>
        </p:txBody>
      </p:sp>
      <p:sp>
        <p:nvSpPr>
          <p:cNvPr id="25" name="Text 22"/>
          <p:cNvSpPr/>
          <p:nvPr/>
        </p:nvSpPr>
        <p:spPr>
          <a:xfrm>
            <a:off x="3566160" y="40233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OEM Backlogs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(Q2 2025)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6217920" y="3291840"/>
            <a:ext cx="2560320" cy="1371600"/>
          </a:xfrm>
          <a:prstGeom prst="rect">
            <a:avLst/>
          </a:prstGeom>
          <a:solidFill>
            <a:srgbClr val="1B2A4A"/>
          </a:solidFill>
          <a:ln/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6217920" y="3291840"/>
            <a:ext cx="54864" cy="1371600"/>
          </a:xfrm>
          <a:prstGeom prst="rect">
            <a:avLst/>
          </a:prstGeom>
          <a:solidFill>
            <a:srgbClr val="93C5FD"/>
          </a:solidFill>
          <a:ln/>
        </p:spPr>
      </p:sp>
      <p:sp>
        <p:nvSpPr>
          <p:cNvPr id="28" name="Text 25"/>
          <p:cNvSpPr/>
          <p:nvPr/>
        </p:nvSpPr>
        <p:spPr>
          <a:xfrm>
            <a:off x="6400800" y="34290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93C5F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+9.1%</a:t>
            </a:r>
            <a:endParaRPr lang="en-US" sz="3200" dirty="0"/>
          </a:p>
        </p:txBody>
      </p:sp>
      <p:sp>
        <p:nvSpPr>
          <p:cNvPr id="29" name="Text 26"/>
          <p:cNvSpPr/>
          <p:nvPr/>
        </p:nvSpPr>
        <p:spPr>
          <a:xfrm>
            <a:off x="6400800" y="40233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Pre-Owned Txn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H1 2025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548640" y="470916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MRFR, GAMA, Global Jet Capital, JetNet, ANAC</a:t>
            </a:r>
            <a:endParaRPr lang="en-US" sz="7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7970E34-93C2-DD94-A49E-9C1E9D3388F5}"/>
              </a:ext>
            </a:extLst>
          </p:cNvPr>
          <p:cNvSpPr txBox="1"/>
          <p:nvPr/>
        </p:nvSpPr>
        <p:spPr>
          <a:xfrm rot="19501435">
            <a:off x="1475379" y="2297288"/>
            <a:ext cx="5415566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4800" dirty="0">
                <a:solidFill>
                  <a:srgbClr val="D9D9D9"/>
                </a:solidFill>
              </a:rPr>
              <a:t>CONFIDENTIAL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54864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548640" y="1051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$37B market running on 1990s technology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1325880"/>
            <a:ext cx="2560320" cy="32461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" y="1554480"/>
            <a:ext cx="256032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Shape 5"/>
          <p:cNvSpPr/>
          <p:nvPr/>
        </p:nvSpPr>
        <p:spPr>
          <a:xfrm>
            <a:off x="1417320" y="1783080"/>
            <a:ext cx="640080" cy="640080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0" y="192024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31520" y="25603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Legacy UX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777240" y="292608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Controller.com has App Store reviews citing "added unnecessary steps" and "deliberately less user friendly" after updates.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3383280" y="1325880"/>
            <a:ext cx="2560320" cy="32461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383280" y="1554480"/>
            <a:ext cx="256032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4" name="Shape 10"/>
          <p:cNvSpPr/>
          <p:nvPr/>
        </p:nvSpPr>
        <p:spPr>
          <a:xfrm>
            <a:off x="4251960" y="1783080"/>
            <a:ext cx="640080" cy="640080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0" y="192024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566160" y="25603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Price Transparency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3611880" y="292608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automated valuation tools. Zero pricing intelligence. Deals rely on broker relationships and opaque negotiations.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6217920" y="1325880"/>
            <a:ext cx="2560320" cy="32461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217920" y="1554480"/>
            <a:ext cx="256032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0" name="Shape 15"/>
          <p:cNvSpPr/>
          <p:nvPr/>
        </p:nvSpPr>
        <p:spPr>
          <a:xfrm>
            <a:off x="7086600" y="1783080"/>
            <a:ext cx="640080" cy="640080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3760" y="192024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400800" y="25603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Brazil Underserved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6446520" y="292608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9,824 executive aircraft with no modern marketplace. Sellers use WhatsApp groups, fragmented classifieds, and broker networks.</a:t>
            </a:r>
            <a:endParaRPr lang="en-US" sz="1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D7326E8-C626-887A-FB8C-69B0A7A64BC0}"/>
              </a:ext>
            </a:extLst>
          </p:cNvPr>
          <p:cNvSpPr txBox="1"/>
          <p:nvPr/>
        </p:nvSpPr>
        <p:spPr>
          <a:xfrm rot="19501435">
            <a:off x="1475379" y="2297288"/>
            <a:ext cx="5415566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4800" dirty="0">
                <a:solidFill>
                  <a:srgbClr val="D9D9D9"/>
                </a:solidFill>
              </a:rPr>
              <a:t>CONFIDENTIAL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54864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Market Opportunity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731520" y="1463040"/>
            <a:ext cx="2011680" cy="2011680"/>
          </a:xfrm>
          <a:prstGeom prst="ellipse">
            <a:avLst/>
          </a:prstGeom>
          <a:solidFill>
            <a:srgbClr val="2563EB">
              <a:alpha val="25000"/>
            </a:srgbClr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1905610"/>
            <a:ext cx="2011680" cy="5632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$78.6B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31520" y="2428646"/>
            <a:ext cx="2011680" cy="8449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Used Aircraft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(2035)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3291840" y="1828800"/>
            <a:ext cx="1645920" cy="1645920"/>
          </a:xfrm>
          <a:prstGeom prst="ellipse">
            <a:avLst/>
          </a:prstGeom>
          <a:solidFill>
            <a:srgbClr val="3B82F6">
              <a:alpha val="25000"/>
            </a:srgbClr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291840" y="2190902"/>
            <a:ext cx="1645920" cy="460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$1.4B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3291840" y="2618842"/>
            <a:ext cx="1645920" cy="69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Aircraft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5486400" y="2194560"/>
            <a:ext cx="1280160" cy="1280160"/>
          </a:xfrm>
          <a:prstGeom prst="ellipse">
            <a:avLst/>
          </a:prstGeom>
          <a:solidFill>
            <a:srgbClr val="0EA5E9">
              <a:alpha val="25000"/>
            </a:srgbClr>
          </a:solidFill>
          <a:ln w="25400">
            <a:solidFill>
              <a:srgbClr val="0EA5E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86400" y="2476195"/>
            <a:ext cx="1280160" cy="3584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$26M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5486400" y="2809037"/>
            <a:ext cx="1280160" cy="537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AeroDesk Y5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7132320" y="1463040"/>
            <a:ext cx="36576" cy="29260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5" name="Text 12"/>
          <p:cNvSpPr/>
          <p:nvPr/>
        </p:nvSpPr>
        <p:spPr>
          <a:xfrm>
            <a:off x="7406640" y="14630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764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7406640" y="16916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jets delivered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2024 (GAMA)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7406640" y="22402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$55.5B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7406640" y="24688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OEM backlogs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(Q2 2025)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7406640" y="30175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+9.1%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7406640" y="32461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Pre-owned txn growth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2025 YoY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7406640" y="37947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7.3%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7406640" y="40233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availability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(below 10% avg)</a:t>
            </a:r>
            <a:endParaRPr lang="en-US" sz="75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65C98AB-EE64-3A95-EF81-0ECD80BAD209}"/>
              </a:ext>
            </a:extLst>
          </p:cNvPr>
          <p:cNvSpPr txBox="1"/>
          <p:nvPr/>
        </p:nvSpPr>
        <p:spPr>
          <a:xfrm rot="19501435">
            <a:off x="1475379" y="2297288"/>
            <a:ext cx="5415566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4800" dirty="0">
                <a:solidFill>
                  <a:srgbClr val="D9D9D9"/>
                </a:solidFill>
              </a:rPr>
              <a:t>CONFIDENTIAL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548640" y="5029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AeroDesk </a:t>
            </a:r>
            <a:r>
              <a:rPr lang="en-US" sz="2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 the Webmotors of Aviation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548640" y="9144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Consumer-grade UX meets high-value asset transactions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1325880"/>
            <a:ext cx="2560320" cy="32461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" y="1325880"/>
            <a:ext cx="2560320" cy="914400"/>
          </a:xfrm>
          <a:prstGeom prst="rect">
            <a:avLst/>
          </a:prstGeom>
          <a:solidFill>
            <a:srgbClr val="0F172A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0" y="1417320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85800" y="185623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World-Class UX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822960" y="242316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 galleries, 360° tours</a:t>
            </a:r>
            <a:endParaRPr lang="en-US" sz="11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Intuitive smart filters</a:t>
            </a:r>
            <a:endParaRPr lang="en-US" sz="11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 responsive</a:t>
            </a:r>
            <a:endParaRPr lang="en-US" sz="11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comparison tools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3383280" y="1325880"/>
            <a:ext cx="2560320" cy="32461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3383280" y="1325880"/>
            <a:ext cx="2560320" cy="914400"/>
          </a:xfrm>
          <a:prstGeom prst="rect">
            <a:avLst/>
          </a:prstGeom>
          <a:solidFill>
            <a:srgbClr val="0F172A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0" y="141732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520440" y="185623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Intelligence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3657600" y="242316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valuations</a:t>
            </a:r>
            <a:endParaRPr lang="en-US" sz="11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scoring</a:t>
            </a:r>
            <a:endParaRPr lang="en-US" sz="11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trend dashboards</a:t>
            </a:r>
            <a:endParaRPr lang="en-US" sz="11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recs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6217920" y="1325880"/>
            <a:ext cx="2560320" cy="32461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6217920" y="1325880"/>
            <a:ext cx="2560320" cy="914400"/>
          </a:xfrm>
          <a:prstGeom prst="rect">
            <a:avLst/>
          </a:prstGeom>
          <a:solidFill>
            <a:srgbClr val="0F172A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3760" y="1417320"/>
            <a:ext cx="457200" cy="4572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355080" y="185623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Transaction Support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6492240" y="242316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Pre-purchase inspections</a:t>
            </a:r>
            <a:endParaRPr lang="en-US" sz="11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Financing hub</a:t>
            </a:r>
            <a:endParaRPr lang="en-US" sz="11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Escrow &amp; title search</a:t>
            </a:r>
            <a:endParaRPr lang="en-US" sz="11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coordination</a:t>
            </a:r>
            <a:endParaRPr lang="en-US" sz="11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99EDBB1-F107-0239-B053-6ACCE23E372F}"/>
              </a:ext>
            </a:extLst>
          </p:cNvPr>
          <p:cNvSpPr txBox="1"/>
          <p:nvPr/>
        </p:nvSpPr>
        <p:spPr>
          <a:xfrm rot="19501435">
            <a:off x="1475379" y="2297288"/>
            <a:ext cx="5415566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4800" dirty="0">
                <a:solidFill>
                  <a:srgbClr val="D9D9D9"/>
                </a:solidFill>
              </a:rPr>
              <a:t>CONFIDENTIAL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54864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Investment Highlights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548640" y="1051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AeroDesk, why now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57200" y="1463040"/>
            <a:ext cx="4114800" cy="960120"/>
          </a:xfrm>
          <a:prstGeom prst="rect">
            <a:avLst/>
          </a:prstGeom>
          <a:solidFill>
            <a:srgbClr val="1B2A4A"/>
          </a:solidFill>
          <a:ln/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1463040"/>
            <a:ext cx="54864" cy="9601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Shape 5"/>
          <p:cNvSpPr/>
          <p:nvPr/>
        </p:nvSpPr>
        <p:spPr>
          <a:xfrm>
            <a:off x="640080" y="1645920"/>
            <a:ext cx="502920" cy="502920"/>
          </a:xfrm>
          <a:prstGeom prst="ellipse">
            <a:avLst/>
          </a:prstGeom>
          <a:solidFill>
            <a:srgbClr val="3B82F6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755648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80160" y="15361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Massive Underserved Market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1280160" y="181051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$37.5B global market growing at 7% CAGR with zero modern digital marketplace. Controller.com generates ~$18M on legacy tech.</a:t>
            </a:r>
            <a:endParaRPr lang="en-US" sz="850" dirty="0"/>
          </a:p>
        </p:txBody>
      </p:sp>
      <p:sp>
        <p:nvSpPr>
          <p:cNvPr id="12" name="Shape 8"/>
          <p:cNvSpPr/>
          <p:nvPr/>
        </p:nvSpPr>
        <p:spPr>
          <a:xfrm>
            <a:off x="4846320" y="1463040"/>
            <a:ext cx="4114800" cy="960120"/>
          </a:xfrm>
          <a:prstGeom prst="rect">
            <a:avLst/>
          </a:prstGeom>
          <a:solidFill>
            <a:srgbClr val="1B2A4A"/>
          </a:solidFill>
          <a:ln/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846320" y="1463040"/>
            <a:ext cx="54864" cy="9601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4" name="Shape 10"/>
          <p:cNvSpPr/>
          <p:nvPr/>
        </p:nvSpPr>
        <p:spPr>
          <a:xfrm>
            <a:off x="5029200" y="1645920"/>
            <a:ext cx="502920" cy="502920"/>
          </a:xfrm>
          <a:prstGeom prst="ellipse">
            <a:avLst/>
          </a:prstGeom>
          <a:solidFill>
            <a:srgbClr val="0EA5E9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8928" y="1755648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669280" y="15361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Proven Marketplace Playbook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5669280" y="181051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the Webmotors/Carvana model to aviation: consumer-grade UX + AI pricing + integrated financing. Proven in auto and real estate.</a:t>
            </a:r>
            <a:endParaRPr lang="en-US" sz="850" dirty="0"/>
          </a:p>
        </p:txBody>
      </p:sp>
      <p:sp>
        <p:nvSpPr>
          <p:cNvPr id="18" name="Shape 13"/>
          <p:cNvSpPr/>
          <p:nvPr/>
        </p:nvSpPr>
        <p:spPr>
          <a:xfrm>
            <a:off x="457200" y="2606040"/>
            <a:ext cx="4114800" cy="960120"/>
          </a:xfrm>
          <a:prstGeom prst="rect">
            <a:avLst/>
          </a:prstGeom>
          <a:solidFill>
            <a:srgbClr val="1B2A4A"/>
          </a:solidFill>
          <a:ln/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457200" y="2606040"/>
            <a:ext cx="54864" cy="9601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0" name="Shape 15"/>
          <p:cNvSpPr/>
          <p:nvPr/>
        </p:nvSpPr>
        <p:spPr>
          <a:xfrm>
            <a:off x="640080" y="2788920"/>
            <a:ext cx="502920" cy="502920"/>
          </a:xfrm>
          <a:prstGeom prst="ellipse">
            <a:avLst/>
          </a:prstGeom>
          <a:solidFill>
            <a:srgbClr val="22C55E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" y="2898648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280160" y="26791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Brazil-First Advantage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1280160" y="295351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 largest GA market globally with zero dominant digital platform. Controller has no Brazil presence. First-mover with LABACE as launch event.</a:t>
            </a:r>
            <a:endParaRPr lang="en-US" sz="850" dirty="0"/>
          </a:p>
        </p:txBody>
      </p:sp>
      <p:sp>
        <p:nvSpPr>
          <p:cNvPr id="24" name="Shape 18"/>
          <p:cNvSpPr/>
          <p:nvPr/>
        </p:nvSpPr>
        <p:spPr>
          <a:xfrm>
            <a:off x="4846320" y="2606040"/>
            <a:ext cx="4114800" cy="960120"/>
          </a:xfrm>
          <a:prstGeom prst="rect">
            <a:avLst/>
          </a:prstGeom>
          <a:solidFill>
            <a:srgbClr val="1B2A4A"/>
          </a:solidFill>
          <a:ln/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846320" y="2606040"/>
            <a:ext cx="54864" cy="9601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6" name="Shape 20"/>
          <p:cNvSpPr/>
          <p:nvPr/>
        </p:nvSpPr>
        <p:spPr>
          <a:xfrm>
            <a:off x="5029200" y="2788920"/>
            <a:ext cx="502920" cy="50292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38928" y="2898648"/>
            <a:ext cx="274320" cy="27432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669280" y="26791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 Diversified Revenue Streams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5669280" y="295351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subscriptions, listing fees, commissions (capped at 1%), ancillary services (insurance, PPI, legal), data analytics, and brand advertising.</a:t>
            </a:r>
            <a:endParaRPr lang="en-US" sz="850" dirty="0"/>
          </a:p>
        </p:txBody>
      </p:sp>
      <p:sp>
        <p:nvSpPr>
          <p:cNvPr id="30" name="Shape 23"/>
          <p:cNvSpPr/>
          <p:nvPr/>
        </p:nvSpPr>
        <p:spPr>
          <a:xfrm>
            <a:off x="457200" y="3749040"/>
            <a:ext cx="4114800" cy="960120"/>
          </a:xfrm>
          <a:prstGeom prst="rect">
            <a:avLst/>
          </a:prstGeom>
          <a:solidFill>
            <a:srgbClr val="1B2A4A"/>
          </a:solidFill>
          <a:ln/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457200" y="3749040"/>
            <a:ext cx="54864" cy="96012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32" name="Shape 25"/>
          <p:cNvSpPr/>
          <p:nvPr/>
        </p:nvSpPr>
        <p:spPr>
          <a:xfrm>
            <a:off x="640080" y="3931920"/>
            <a:ext cx="502920" cy="502920"/>
          </a:xfrm>
          <a:prstGeom prst="ellipse">
            <a:avLst/>
          </a:prstGeom>
          <a:solidFill>
            <a:srgbClr val="A855F7"/>
          </a:solidFill>
          <a:ln/>
        </p:spPr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808" y="4041648"/>
            <a:ext cx="274320" cy="27432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1280160" y="38221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85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Capital-Efficient Execution</a:t>
            </a:r>
            <a:endParaRPr lang="en-US" sz="1100" dirty="0"/>
          </a:p>
        </p:txBody>
      </p:sp>
      <p:sp>
        <p:nvSpPr>
          <p:cNvPr id="35" name="Text 27"/>
          <p:cNvSpPr/>
          <p:nvPr/>
        </p:nvSpPr>
        <p:spPr>
          <a:xfrm>
            <a:off x="1280160" y="409651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$920K seed for 18 months runway. AI-assisted development (Claude Code) for lean MVP build. EBITDA positive by Year 3.</a:t>
            </a:r>
            <a:endParaRPr lang="en-US" sz="850" dirty="0"/>
          </a:p>
        </p:txBody>
      </p:sp>
      <p:sp>
        <p:nvSpPr>
          <p:cNvPr id="36" name="Shape 28"/>
          <p:cNvSpPr/>
          <p:nvPr/>
        </p:nvSpPr>
        <p:spPr>
          <a:xfrm>
            <a:off x="4846320" y="3749040"/>
            <a:ext cx="4114800" cy="960120"/>
          </a:xfrm>
          <a:prstGeom prst="rect">
            <a:avLst/>
          </a:prstGeom>
          <a:solidFill>
            <a:srgbClr val="1B2A4A"/>
          </a:solidFill>
          <a:ln/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7" name="Shape 29"/>
          <p:cNvSpPr/>
          <p:nvPr/>
        </p:nvSpPr>
        <p:spPr>
          <a:xfrm>
            <a:off x="4846320" y="3749040"/>
            <a:ext cx="54864" cy="960120"/>
          </a:xfrm>
          <a:prstGeom prst="rect">
            <a:avLst/>
          </a:prstGeom>
          <a:solidFill>
            <a:srgbClr val="93C5FD"/>
          </a:solidFill>
          <a:ln/>
        </p:spPr>
      </p:sp>
      <p:sp>
        <p:nvSpPr>
          <p:cNvPr id="38" name="Shape 30"/>
          <p:cNvSpPr/>
          <p:nvPr/>
        </p:nvSpPr>
        <p:spPr>
          <a:xfrm>
            <a:off x="5029200" y="3931920"/>
            <a:ext cx="502920" cy="502920"/>
          </a:xfrm>
          <a:prstGeom prst="ellipse">
            <a:avLst/>
          </a:prstGeom>
          <a:solidFill>
            <a:srgbClr val="93C5FD"/>
          </a:solidFill>
          <a:ln/>
        </p:spPr>
      </p:sp>
      <p:pic>
        <p:nvPicPr>
          <p:cNvPr id="39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38928" y="4041648"/>
            <a:ext cx="274320" cy="274320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5669280" y="38221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3C5F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Unique Founder-Market Fit</a:t>
            </a:r>
            <a:endParaRPr lang="en-US" sz="1100" dirty="0"/>
          </a:p>
        </p:txBody>
      </p:sp>
      <p:sp>
        <p:nvSpPr>
          <p:cNvPr id="41" name="Text 32"/>
          <p:cNvSpPr/>
          <p:nvPr/>
        </p:nvSpPr>
        <p:spPr>
          <a:xfrm>
            <a:off x="5669280" y="409651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7+ years leading 30+ M&amp;A transactions, deep Brazil aviation network, investment banking pedigree, and technical marketplace-building capability.</a:t>
            </a:r>
            <a:endParaRPr lang="en-US" sz="85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BF14338-5F12-2CA3-2355-D477F85FC458}"/>
              </a:ext>
            </a:extLst>
          </p:cNvPr>
          <p:cNvSpPr txBox="1"/>
          <p:nvPr/>
        </p:nvSpPr>
        <p:spPr>
          <a:xfrm rot="19501435">
            <a:off x="1475379" y="2297288"/>
            <a:ext cx="5415566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4800" dirty="0">
                <a:solidFill>
                  <a:srgbClr val="D9D9D9"/>
                </a:solidFill>
              </a:rPr>
              <a:t>CONFIDENTIAL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54864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Competitive Landscape</a:t>
            </a:r>
            <a:endParaRPr lang="en-US" sz="3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280160"/>
          <a:ext cx="6858000" cy="169164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Platform</a:t>
                      </a:r>
                      <a:endParaRPr lang="en-US" sz="9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Monthly Visits</a:t>
                      </a:r>
                      <a:endParaRPr lang="en-US" sz="9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Listings</a:t>
                      </a:r>
                      <a:endParaRPr lang="en-US" sz="9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UX Score</a:t>
                      </a:r>
                      <a:endParaRPr lang="en-US" sz="9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Mobile</a:t>
                      </a:r>
                      <a:endParaRPr lang="en-US" sz="9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AI Tools</a:t>
                      </a:r>
                      <a:endParaRPr lang="en-US" sz="9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Controller.com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~900K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5,500+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Poor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Rated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Trade-A-Plane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~400K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3,000+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AvBuyer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~250K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2,000+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AeroDesk (Target)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5,500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Excellent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Native App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AI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731520" y="3474720"/>
            <a:ext cx="7680960" cy="12801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7" name="Text 3"/>
          <p:cNvSpPr/>
          <p:nvPr/>
        </p:nvSpPr>
        <p:spPr>
          <a:xfrm>
            <a:off x="1005840" y="3566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Disruption Thesis</a:t>
            </a:r>
            <a:endParaRPr lang="en-US" sz="1400" dirty="0"/>
          </a:p>
        </p:txBody>
      </p:sp>
      <p:sp>
        <p:nvSpPr>
          <p:cNvPr id="5" name="Text 4"/>
          <p:cNvSpPr/>
          <p:nvPr/>
        </p:nvSpPr>
        <p:spPr>
          <a:xfrm>
            <a:off x="1005840" y="3840480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Controller.com generates ~$18M revenue with print-era technology. Its moat is liquidity, not product.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AeroDesk captures share by delivering 10x better experience — starting in Brazil where Controller has zero presence.</a:t>
            </a:r>
            <a:endParaRPr lang="en-US" sz="1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08715A8-C343-A42D-8B37-74BC6E850912}"/>
              </a:ext>
            </a:extLst>
          </p:cNvPr>
          <p:cNvSpPr txBox="1"/>
          <p:nvPr/>
        </p:nvSpPr>
        <p:spPr>
          <a:xfrm rot="19501435">
            <a:off x="1475379" y="2297288"/>
            <a:ext cx="5415566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4800" dirty="0">
                <a:solidFill>
                  <a:srgbClr val="D9D9D9"/>
                </a:solidFill>
              </a:rPr>
              <a:t>CONFIDENTIAL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54864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Revenue Model — 7 Streams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548640" y="914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Diversified monetization across SaaS, transactional, and advertising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320040" y="1371600"/>
            <a:ext cx="196596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005840" y="1508760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712" y="1627632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11480" y="20574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Dealer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Subscriptions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411480" y="25146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$180-$340/mo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Tiered plans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2514600" y="1371600"/>
            <a:ext cx="196596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3200400" y="1508760"/>
            <a:ext cx="502920" cy="502920"/>
          </a:xfrm>
          <a:prstGeom prst="ellipse">
            <a:avLst/>
          </a:prstGeom>
          <a:solidFill>
            <a:srgbClr val="3B82F6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9272" y="1627632"/>
            <a:ext cx="274320" cy="2743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606040" y="20574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Featured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Listings</a:t>
            </a:r>
            <a:endParaRPr lang="en-US" sz="1050" dirty="0"/>
          </a:p>
        </p:txBody>
      </p:sp>
      <p:sp>
        <p:nvSpPr>
          <p:cNvPr id="15" name="Text 10"/>
          <p:cNvSpPr/>
          <p:nvPr/>
        </p:nvSpPr>
        <p:spPr>
          <a:xfrm>
            <a:off x="2606040" y="25146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$350-$550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listing</a:t>
            </a:r>
            <a:endParaRPr lang="en-US" sz="900" dirty="0"/>
          </a:p>
        </p:txBody>
      </p:sp>
      <p:sp>
        <p:nvSpPr>
          <p:cNvPr id="16" name="Shape 11"/>
          <p:cNvSpPr/>
          <p:nvPr/>
        </p:nvSpPr>
        <p:spPr>
          <a:xfrm>
            <a:off x="4709160" y="1371600"/>
            <a:ext cx="196596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5394960" y="1508760"/>
            <a:ext cx="502920" cy="502920"/>
          </a:xfrm>
          <a:prstGeom prst="ellipse">
            <a:avLst/>
          </a:prstGeom>
          <a:solidFill>
            <a:srgbClr val="0EA5E9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13832" y="1627632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4800600" y="20574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Individual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Listings</a:t>
            </a:r>
            <a:endParaRPr lang="en-US" sz="1050" dirty="0"/>
          </a:p>
        </p:txBody>
      </p:sp>
      <p:sp>
        <p:nvSpPr>
          <p:cNvPr id="20" name="Text 14"/>
          <p:cNvSpPr/>
          <p:nvPr/>
        </p:nvSpPr>
        <p:spPr>
          <a:xfrm>
            <a:off x="4800600" y="25146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$80-$120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Pay-per-use</a:t>
            </a:r>
            <a:endParaRPr lang="en-US" sz="900" dirty="0"/>
          </a:p>
        </p:txBody>
      </p:sp>
      <p:sp>
        <p:nvSpPr>
          <p:cNvPr id="21" name="Shape 15"/>
          <p:cNvSpPr/>
          <p:nvPr/>
        </p:nvSpPr>
        <p:spPr>
          <a:xfrm>
            <a:off x="6903720" y="1371600"/>
            <a:ext cx="196596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7589520" y="150876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08392" y="1627632"/>
            <a:ext cx="274320" cy="27432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995160" y="20574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Transaction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Commissions</a:t>
            </a:r>
            <a:endParaRPr lang="en-US" sz="1050" dirty="0"/>
          </a:p>
        </p:txBody>
      </p:sp>
      <p:sp>
        <p:nvSpPr>
          <p:cNvPr id="25" name="Text 18"/>
          <p:cNvSpPr/>
          <p:nvPr/>
        </p:nvSpPr>
        <p:spPr>
          <a:xfrm>
            <a:off x="6995160" y="25146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0.5%-1.0%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Capped at 1%</a:t>
            </a:r>
            <a:endParaRPr lang="en-US" sz="900" dirty="0"/>
          </a:p>
        </p:txBody>
      </p:sp>
      <p:sp>
        <p:nvSpPr>
          <p:cNvPr id="26" name="Shape 19"/>
          <p:cNvSpPr/>
          <p:nvPr/>
        </p:nvSpPr>
        <p:spPr>
          <a:xfrm>
            <a:off x="320040" y="3291840"/>
            <a:ext cx="196596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1005840" y="342900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24712" y="3547872"/>
            <a:ext cx="274320" cy="27432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411480" y="39776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Ancillary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Services</a:t>
            </a:r>
            <a:endParaRPr lang="en-US" sz="1050" dirty="0"/>
          </a:p>
        </p:txBody>
      </p:sp>
      <p:sp>
        <p:nvSpPr>
          <p:cNvPr id="30" name="Text 22"/>
          <p:cNvSpPr/>
          <p:nvPr/>
        </p:nvSpPr>
        <p:spPr>
          <a:xfrm>
            <a:off x="411480" y="44348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Insurance, PPI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referrals</a:t>
            </a:r>
            <a:endParaRPr lang="en-US" sz="900" dirty="0"/>
          </a:p>
        </p:txBody>
      </p:sp>
      <p:sp>
        <p:nvSpPr>
          <p:cNvPr id="31" name="Shape 23"/>
          <p:cNvSpPr/>
          <p:nvPr/>
        </p:nvSpPr>
        <p:spPr>
          <a:xfrm>
            <a:off x="2514600" y="3291840"/>
            <a:ext cx="196596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2" name="Shape 24"/>
          <p:cNvSpPr/>
          <p:nvPr/>
        </p:nvSpPr>
        <p:spPr>
          <a:xfrm>
            <a:off x="3200400" y="3429000"/>
            <a:ext cx="502920" cy="50292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19272" y="3547872"/>
            <a:ext cx="274320" cy="274320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2606040" y="39776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&amp;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Analytics</a:t>
            </a:r>
            <a:endParaRPr lang="en-US" sz="1050" dirty="0"/>
          </a:p>
        </p:txBody>
      </p:sp>
      <p:sp>
        <p:nvSpPr>
          <p:cNvPr id="35" name="Text 26"/>
          <p:cNvSpPr/>
          <p:nvPr/>
        </p:nvSpPr>
        <p:spPr>
          <a:xfrm>
            <a:off x="2606040" y="44348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$250-$450/mo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intel</a:t>
            </a:r>
            <a:endParaRPr lang="en-US" sz="900" dirty="0"/>
          </a:p>
        </p:txBody>
      </p:sp>
      <p:sp>
        <p:nvSpPr>
          <p:cNvPr id="36" name="Shape 27"/>
          <p:cNvSpPr/>
          <p:nvPr/>
        </p:nvSpPr>
        <p:spPr>
          <a:xfrm>
            <a:off x="4709160" y="3291840"/>
            <a:ext cx="196596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7" name="Shape 28"/>
          <p:cNvSpPr/>
          <p:nvPr/>
        </p:nvSpPr>
        <p:spPr>
          <a:xfrm>
            <a:off x="5394960" y="3429000"/>
            <a:ext cx="502920" cy="50292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38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13832" y="3547872"/>
            <a:ext cx="274320" cy="274320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4800600" y="39776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Marketing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&amp; Ads</a:t>
            </a:r>
            <a:endParaRPr lang="en-US" sz="1050" dirty="0"/>
          </a:p>
        </p:txBody>
      </p:sp>
      <p:sp>
        <p:nvSpPr>
          <p:cNvPr id="40" name="Text 30"/>
          <p:cNvSpPr/>
          <p:nvPr/>
        </p:nvSpPr>
        <p:spPr>
          <a:xfrm>
            <a:off x="4800600" y="44348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$1.5K-$3.5K/mo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packages</a:t>
            </a:r>
            <a:endParaRPr lang="en-US" sz="9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5FBAEB8-0993-6FC0-CCD9-DB72E098DF76}"/>
              </a:ext>
            </a:extLst>
          </p:cNvPr>
          <p:cNvSpPr txBox="1"/>
          <p:nvPr/>
        </p:nvSpPr>
        <p:spPr>
          <a:xfrm rot="19501435">
            <a:off x="1475379" y="2297288"/>
            <a:ext cx="5415566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4800" dirty="0">
                <a:solidFill>
                  <a:srgbClr val="D9D9D9"/>
                </a:solidFill>
              </a:rPr>
              <a:t>CONFIDENTIAL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54864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Go-to-Market Strategy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188720"/>
            <a:ext cx="2560320" cy="5943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120700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M1-6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14447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Brazil Launch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1874520"/>
            <a:ext cx="256032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31520" y="201168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LABACE 2026 debut</a:t>
            </a:r>
            <a:endParaRPr lang="en-US" sz="11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founding dealers</a:t>
            </a:r>
            <a:endParaRPr lang="en-US" sz="11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+ WhatsApp</a:t>
            </a:r>
            <a:endParaRPr lang="en-US" sz="11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ABAG partnership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383280" y="1188720"/>
            <a:ext cx="2560320" cy="5943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Text 8"/>
          <p:cNvSpPr/>
          <p:nvPr/>
        </p:nvSpPr>
        <p:spPr>
          <a:xfrm>
            <a:off x="3383280" y="120700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M7-12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3383280" y="14447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LatAm Expansion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3383280" y="1874520"/>
            <a:ext cx="256032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3566160" y="201168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Mexico, Colombia</a:t>
            </a:r>
            <a:endParaRPr lang="en-US" sz="11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Spanish localization</a:t>
            </a:r>
            <a:endParaRPr lang="en-US" sz="11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partnerships</a:t>
            </a:r>
            <a:endParaRPr lang="en-US" sz="11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2,000+ listings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217920" y="1188720"/>
            <a:ext cx="2560320" cy="59436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6" name="Text 13"/>
          <p:cNvSpPr/>
          <p:nvPr/>
        </p:nvSpPr>
        <p:spPr>
          <a:xfrm>
            <a:off x="6217920" y="120700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M13-24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217920" y="14447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Global Entry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217920" y="1874520"/>
            <a:ext cx="256032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6400800" y="201168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US/English market</a:t>
            </a:r>
            <a:endParaRPr lang="en-US" sz="11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Controller</a:t>
            </a:r>
            <a:endParaRPr lang="en-US" sz="11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5,500+ listings</a:t>
            </a:r>
            <a:endParaRPr lang="en-US" sz="11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pricing live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3200400" y="1481328"/>
            <a:ext cx="457200" cy="0"/>
          </a:xfrm>
          <a:prstGeom prst="line">
            <a:avLst/>
          </a:prstGeom>
          <a:noFill/>
          <a:ln w="25400">
            <a:solidFill>
              <a:srgbClr val="0F172A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035040" y="1481328"/>
            <a:ext cx="457200" cy="0"/>
          </a:xfrm>
          <a:prstGeom prst="line">
            <a:avLst/>
          </a:prstGeom>
          <a:noFill/>
          <a:ln w="25400">
            <a:solidFill>
              <a:srgbClr val="0F172A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48640" y="3931920"/>
            <a:ext cx="8229600" cy="9144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3" name="Text 20"/>
          <p:cNvSpPr/>
          <p:nvPr/>
        </p:nvSpPr>
        <p:spPr>
          <a:xfrm>
            <a:off x="822960" y="39776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 CHANNELS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822960" y="4251960"/>
            <a:ext cx="1417320" cy="4572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5" name="Text 22"/>
          <p:cNvSpPr/>
          <p:nvPr/>
        </p:nvSpPr>
        <p:spPr>
          <a:xfrm>
            <a:off x="822960" y="425196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SEO-First Content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2423160" y="4251960"/>
            <a:ext cx="1417320" cy="4572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7" name="Text 24"/>
          <p:cNvSpPr/>
          <p:nvPr/>
        </p:nvSpPr>
        <p:spPr>
          <a:xfrm>
            <a:off x="2423160" y="425196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Aviation Events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4023360" y="4251960"/>
            <a:ext cx="1417320" cy="4572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9" name="Text 26"/>
          <p:cNvSpPr/>
          <p:nvPr/>
        </p:nvSpPr>
        <p:spPr>
          <a:xfrm>
            <a:off x="4023360" y="425196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 BD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5623560" y="4251960"/>
            <a:ext cx="1417320" cy="4572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1" name="Text 28"/>
          <p:cNvSpPr/>
          <p:nvPr/>
        </p:nvSpPr>
        <p:spPr>
          <a:xfrm>
            <a:off x="5623560" y="425196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+ Influencer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7223760" y="4251960"/>
            <a:ext cx="1417320" cy="4572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3" name="Text 30"/>
          <p:cNvSpPr/>
          <p:nvPr/>
        </p:nvSpPr>
        <p:spPr>
          <a:xfrm>
            <a:off x="7223760" y="425196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Ads (PT)</a:t>
            </a:r>
            <a:endParaRPr lang="en-US" sz="85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7946F12-9783-0C2F-B559-1704599784AF}"/>
              </a:ext>
            </a:extLst>
          </p:cNvPr>
          <p:cNvSpPr txBox="1"/>
          <p:nvPr/>
        </p:nvSpPr>
        <p:spPr>
          <a:xfrm rot="19501435">
            <a:off x="1475379" y="2297288"/>
            <a:ext cx="5415566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4800" dirty="0">
                <a:solidFill>
                  <a:srgbClr val="D9D9D9"/>
                </a:solidFill>
              </a:rPr>
              <a:t>CONFIDENTIAL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548640" y="548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Operational Highlights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548640" y="960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5 targets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1371600"/>
            <a:ext cx="2560320" cy="1554480"/>
          </a:xfrm>
          <a:prstGeom prst="rect">
            <a:avLst/>
          </a:prstGeom>
          <a:solidFill>
            <a:srgbClr val="1B2A4A"/>
          </a:solidFill>
          <a:ln/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" y="1371600"/>
            <a:ext cx="54864" cy="15544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15087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1,000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731520" y="21945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Dealer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383280" y="1371600"/>
            <a:ext cx="2560320" cy="1554480"/>
          </a:xfrm>
          <a:prstGeom prst="rect">
            <a:avLst/>
          </a:prstGeom>
          <a:solidFill>
            <a:srgbClr val="1B2A4A"/>
          </a:solidFill>
          <a:ln/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383280" y="1371600"/>
            <a:ext cx="54864" cy="155448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2" name="Text 9"/>
          <p:cNvSpPr/>
          <p:nvPr/>
        </p:nvSpPr>
        <p:spPr>
          <a:xfrm>
            <a:off x="3566160" y="15087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18,000</a:t>
            </a:r>
            <a:endParaRPr lang="en-US" sz="3200" dirty="0"/>
          </a:p>
        </p:txBody>
      </p:sp>
      <p:sp>
        <p:nvSpPr>
          <p:cNvPr id="13" name="Text 10"/>
          <p:cNvSpPr/>
          <p:nvPr/>
        </p:nvSpPr>
        <p:spPr>
          <a:xfrm>
            <a:off x="3566160" y="21945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Active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217920" y="1371600"/>
            <a:ext cx="2560320" cy="1554480"/>
          </a:xfrm>
          <a:prstGeom prst="rect">
            <a:avLst/>
          </a:prstGeom>
          <a:solidFill>
            <a:srgbClr val="1B2A4A"/>
          </a:solidFill>
          <a:ln/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217920" y="1371600"/>
            <a:ext cx="54864" cy="155448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6" name="Text 13"/>
          <p:cNvSpPr/>
          <p:nvPr/>
        </p:nvSpPr>
        <p:spPr>
          <a:xfrm>
            <a:off x="6400800" y="15087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1.5M</a:t>
            </a:r>
            <a:endParaRPr lang="en-US" sz="3200" dirty="0"/>
          </a:p>
        </p:txBody>
      </p:sp>
      <p:sp>
        <p:nvSpPr>
          <p:cNvPr id="17" name="Text 14"/>
          <p:cNvSpPr/>
          <p:nvPr/>
        </p:nvSpPr>
        <p:spPr>
          <a:xfrm>
            <a:off x="6400800" y="21945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Unique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Visitors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48640" y="3200400"/>
            <a:ext cx="2560320" cy="1554480"/>
          </a:xfrm>
          <a:prstGeom prst="rect">
            <a:avLst/>
          </a:prstGeom>
          <a:solidFill>
            <a:srgbClr val="1B2A4A"/>
          </a:solidFill>
          <a:ln/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48640" y="3200400"/>
            <a:ext cx="54864" cy="15544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" name="Text 17"/>
          <p:cNvSpPr/>
          <p:nvPr/>
        </p:nvSpPr>
        <p:spPr>
          <a:xfrm>
            <a:off x="731520" y="33375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1,100</a:t>
            </a:r>
            <a:endParaRPr lang="en-US" sz="3200" dirty="0"/>
          </a:p>
        </p:txBody>
      </p:sp>
      <p:sp>
        <p:nvSpPr>
          <p:cNvPr id="21" name="Text 18"/>
          <p:cNvSpPr/>
          <p:nvPr/>
        </p:nvSpPr>
        <p:spPr>
          <a:xfrm>
            <a:off x="731520" y="40233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Facilitated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3383280" y="3200400"/>
            <a:ext cx="2560320" cy="1554480"/>
          </a:xfrm>
          <a:prstGeom prst="rect">
            <a:avLst/>
          </a:prstGeom>
          <a:solidFill>
            <a:srgbClr val="1B2A4A"/>
          </a:solidFill>
          <a:ln/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3383280" y="3200400"/>
            <a:ext cx="54864" cy="155448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24" name="Text 21"/>
          <p:cNvSpPr/>
          <p:nvPr/>
        </p:nvSpPr>
        <p:spPr>
          <a:xfrm>
            <a:off x="3566160" y="33375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A85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90</a:t>
            </a:r>
            <a:endParaRPr lang="en-US" sz="3200" dirty="0"/>
          </a:p>
        </p:txBody>
      </p:sp>
      <p:sp>
        <p:nvSpPr>
          <p:cNvPr id="25" name="Text 22"/>
          <p:cNvSpPr/>
          <p:nvPr/>
        </p:nvSpPr>
        <p:spPr>
          <a:xfrm>
            <a:off x="3566160" y="40233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Advertisers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6217920" y="3200400"/>
            <a:ext cx="2560320" cy="1554480"/>
          </a:xfrm>
          <a:prstGeom prst="rect">
            <a:avLst/>
          </a:prstGeom>
          <a:solidFill>
            <a:srgbClr val="1B2A4A"/>
          </a:solidFill>
          <a:ln/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6217920" y="3200400"/>
            <a:ext cx="54864" cy="1554480"/>
          </a:xfrm>
          <a:prstGeom prst="rect">
            <a:avLst/>
          </a:prstGeom>
          <a:solidFill>
            <a:srgbClr val="93C5FD"/>
          </a:solidFill>
          <a:ln/>
        </p:spPr>
      </p:sp>
      <p:sp>
        <p:nvSpPr>
          <p:cNvPr id="28" name="Text 25"/>
          <p:cNvSpPr/>
          <p:nvPr/>
        </p:nvSpPr>
        <p:spPr>
          <a:xfrm>
            <a:off x="6400800" y="33375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93C5F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2.5%</a:t>
            </a:r>
            <a:endParaRPr lang="en-US" sz="3200" dirty="0"/>
          </a:p>
        </p:txBody>
      </p:sp>
      <p:sp>
        <p:nvSpPr>
          <p:cNvPr id="29" name="Text 26"/>
          <p:cNvSpPr/>
          <p:nvPr/>
        </p:nvSpPr>
        <p:spPr>
          <a:xfrm>
            <a:off x="6400800" y="40233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Share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(Online TAM)</a:t>
            </a:r>
            <a:endParaRPr lang="en-US" sz="1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8EDE475-1547-F733-0823-824CFD497B24}"/>
              </a:ext>
            </a:extLst>
          </p:cNvPr>
          <p:cNvSpPr txBox="1"/>
          <p:nvPr/>
        </p:nvSpPr>
        <p:spPr>
          <a:xfrm rot="19501435">
            <a:off x="1475379" y="2297288"/>
            <a:ext cx="5415566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4800" dirty="0">
                <a:solidFill>
                  <a:srgbClr val="D9D9D9"/>
                </a:solidFill>
              </a:rPr>
              <a:t>CONFIDENTIAL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54864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Financial Highlights</a:t>
            </a:r>
            <a:endParaRPr lang="en-US" sz="32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1005840"/>
          <a:ext cx="530352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2"/>
          <p:cNvSpPr/>
          <p:nvPr/>
        </p:nvSpPr>
        <p:spPr>
          <a:xfrm>
            <a:off x="5852160" y="1005840"/>
            <a:ext cx="3017520" cy="27432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7" name="Text 3"/>
          <p:cNvSpPr/>
          <p:nvPr/>
        </p:nvSpPr>
        <p:spPr>
          <a:xfrm>
            <a:off x="6126480" y="11430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$26.1M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7498080" y="11430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Y5 Revenue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6126480" y="16459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$16.1M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7498080" y="16459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Y5 EBITDA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6126480" y="21488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61.5%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7498080" y="21488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Y5 EBITDA Margin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6126480" y="26517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$13.6M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7498080" y="26517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Y5 Net Income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6126480" y="31546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172%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7498080" y="31546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 (10x EBITDA exit)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548640" y="3931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Margin Progression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206240"/>
          <a:ext cx="8229600" cy="941832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Y1</a:t>
                      </a:r>
                      <a:endParaRPr lang="en-US" sz="8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Y2</a:t>
                      </a:r>
                      <a:endParaRPr lang="en-US" sz="8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Y3</a:t>
                      </a:r>
                      <a:endParaRPr lang="en-US" sz="8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Y4</a:t>
                      </a:r>
                      <a:endParaRPr lang="en-US" sz="8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Y5</a:t>
                      </a:r>
                      <a:endParaRPr lang="en-US" sz="8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Gross Margin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EBITDA Margin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(170%)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(11%)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Margin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(181%)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(14%)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97E7C3CC-44A9-4EC5-8F2D-885F98AF7673}"/>
              </a:ext>
            </a:extLst>
          </p:cNvPr>
          <p:cNvSpPr txBox="1"/>
          <p:nvPr/>
        </p:nvSpPr>
        <p:spPr>
          <a:xfrm rot="19501435">
            <a:off x="1475379" y="2297288"/>
            <a:ext cx="5415566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4800" dirty="0">
                <a:solidFill>
                  <a:srgbClr val="D9D9D9"/>
                </a:solidFill>
              </a:rPr>
              <a:t>CONFIDENTIAL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54864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 of Proceeds — $920K Seed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548640" y="914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months of runway to reach EBITDA breakeven</a:t>
            </a:r>
            <a:endParaRPr lang="en-US" sz="12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182880" y="1280160"/>
          <a:ext cx="411480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3"/>
          <p:cNvSpPr/>
          <p:nvPr/>
        </p:nvSpPr>
        <p:spPr>
          <a:xfrm>
            <a:off x="4572000" y="1325880"/>
            <a:ext cx="429768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4572000" y="1325880"/>
            <a:ext cx="54864" cy="5669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5"/>
          <p:cNvSpPr/>
          <p:nvPr/>
        </p:nvSpPr>
        <p:spPr>
          <a:xfrm>
            <a:off x="4754880" y="134416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 Development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4754880" y="16002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web + mobile app, search infra, AI engine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7772400" y="134416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$280K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7772400" y="16002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800" dirty="0"/>
          </a:p>
        </p:txBody>
      </p:sp>
      <p:sp>
        <p:nvSpPr>
          <p:cNvPr id="13" name="Shape 9"/>
          <p:cNvSpPr/>
          <p:nvPr/>
        </p:nvSpPr>
        <p:spPr>
          <a:xfrm>
            <a:off x="4572000" y="2020824"/>
            <a:ext cx="429768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572000" y="2020824"/>
            <a:ext cx="54864" cy="5669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1"/>
          <p:cNvSpPr/>
          <p:nvPr/>
        </p:nvSpPr>
        <p:spPr>
          <a:xfrm>
            <a:off x="4754880" y="203911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Marketing &amp; GTM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4754880" y="229514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LABACE, SEO, Google Ads, content, BD outreach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7772400" y="203911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$240K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7772400" y="229514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26%</a:t>
            </a:r>
            <a:endParaRPr lang="en-US" sz="800" dirty="0"/>
          </a:p>
        </p:txBody>
      </p:sp>
      <p:sp>
        <p:nvSpPr>
          <p:cNvPr id="19" name="Shape 15"/>
          <p:cNvSpPr/>
          <p:nvPr/>
        </p:nvSpPr>
        <p:spPr>
          <a:xfrm>
            <a:off x="4572000" y="2715768"/>
            <a:ext cx="429768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4572000" y="2715768"/>
            <a:ext cx="54864" cy="566928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1" name="Text 17"/>
          <p:cNvSpPr/>
          <p:nvPr/>
        </p:nvSpPr>
        <p:spPr>
          <a:xfrm>
            <a:off x="4754880" y="273405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Salaries &amp; Ops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4754880" y="299008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Founding team (2 co-founders + early hires), 18mo</a:t>
            </a:r>
            <a:endParaRPr lang="en-US" sz="800" dirty="0"/>
          </a:p>
        </p:txBody>
      </p:sp>
      <p:sp>
        <p:nvSpPr>
          <p:cNvPr id="23" name="Text 19"/>
          <p:cNvSpPr/>
          <p:nvPr/>
        </p:nvSpPr>
        <p:spPr>
          <a:xfrm>
            <a:off x="7772400" y="273405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$240K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7772400" y="299008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26%</a:t>
            </a:r>
            <a:endParaRPr lang="en-US" sz="800" dirty="0"/>
          </a:p>
        </p:txBody>
      </p:sp>
      <p:sp>
        <p:nvSpPr>
          <p:cNvPr id="25" name="Shape 21"/>
          <p:cNvSpPr/>
          <p:nvPr/>
        </p:nvSpPr>
        <p:spPr>
          <a:xfrm>
            <a:off x="4572000" y="3410712"/>
            <a:ext cx="429768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4572000" y="3410712"/>
            <a:ext cx="54864" cy="56692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7" name="Text 23"/>
          <p:cNvSpPr/>
          <p:nvPr/>
        </p:nvSpPr>
        <p:spPr>
          <a:xfrm>
            <a:off x="4754880" y="342900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Infra + Design + Legal</a:t>
            </a:r>
            <a:endParaRPr lang="en-US" sz="1000" dirty="0"/>
          </a:p>
        </p:txBody>
      </p:sp>
      <p:sp>
        <p:nvSpPr>
          <p:cNvPr id="28" name="Text 24"/>
          <p:cNvSpPr/>
          <p:nvPr/>
        </p:nvSpPr>
        <p:spPr>
          <a:xfrm>
            <a:off x="4754880" y="368503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hosting, branding, compliance, entity setup</a:t>
            </a:r>
            <a:endParaRPr lang="en-US" sz="800" dirty="0"/>
          </a:p>
        </p:txBody>
      </p:sp>
      <p:sp>
        <p:nvSpPr>
          <p:cNvPr id="29" name="Text 25"/>
          <p:cNvSpPr/>
          <p:nvPr/>
        </p:nvSpPr>
        <p:spPr>
          <a:xfrm>
            <a:off x="7772400" y="342900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$111K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7772400" y="36850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</a:t>
            </a:r>
            <a:endParaRPr lang="en-US" sz="800" dirty="0"/>
          </a:p>
        </p:txBody>
      </p:sp>
      <p:sp>
        <p:nvSpPr>
          <p:cNvPr id="31" name="Shape 27"/>
          <p:cNvSpPr/>
          <p:nvPr/>
        </p:nvSpPr>
        <p:spPr>
          <a:xfrm>
            <a:off x="4572000" y="4105656"/>
            <a:ext cx="429768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2" name="Shape 28"/>
          <p:cNvSpPr/>
          <p:nvPr/>
        </p:nvSpPr>
        <p:spPr>
          <a:xfrm>
            <a:off x="4572000" y="4105656"/>
            <a:ext cx="54864" cy="566928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33" name="Text 29"/>
          <p:cNvSpPr/>
          <p:nvPr/>
        </p:nvSpPr>
        <p:spPr>
          <a:xfrm>
            <a:off x="4754880" y="412394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Contingency</a:t>
            </a:r>
            <a:endParaRPr lang="en-US" sz="1000" dirty="0"/>
          </a:p>
        </p:txBody>
      </p:sp>
      <p:sp>
        <p:nvSpPr>
          <p:cNvPr id="34" name="Text 30"/>
          <p:cNvSpPr/>
          <p:nvPr/>
        </p:nvSpPr>
        <p:spPr>
          <a:xfrm>
            <a:off x="4754880" y="437997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 for unforeseen costs</a:t>
            </a:r>
            <a:endParaRPr lang="en-US" sz="800" dirty="0"/>
          </a:p>
        </p:txBody>
      </p:sp>
      <p:sp>
        <p:nvSpPr>
          <p:cNvPr id="35" name="Text 31"/>
          <p:cNvSpPr/>
          <p:nvPr/>
        </p:nvSpPr>
        <p:spPr>
          <a:xfrm>
            <a:off x="7772400" y="412394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$49K</a:t>
            </a:r>
            <a:endParaRPr lang="en-US" sz="1200" dirty="0"/>
          </a:p>
        </p:txBody>
      </p:sp>
      <p:sp>
        <p:nvSpPr>
          <p:cNvPr id="36" name="Text 32"/>
          <p:cNvSpPr/>
          <p:nvPr/>
        </p:nvSpPr>
        <p:spPr>
          <a:xfrm>
            <a:off x="7772400" y="437997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44068FA-50D2-E0F6-DE40-4DEF7E5968F5}"/>
              </a:ext>
            </a:extLst>
          </p:cNvPr>
          <p:cNvSpPr txBox="1"/>
          <p:nvPr/>
        </p:nvSpPr>
        <p:spPr>
          <a:xfrm rot="19501435">
            <a:off x="1475379" y="2297288"/>
            <a:ext cx="5415566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4800" dirty="0">
                <a:solidFill>
                  <a:srgbClr val="D9D9D9"/>
                </a:solidFill>
              </a:rPr>
              <a:t>CONFIDENTIAL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54864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Assumptions</a:t>
            </a:r>
            <a:endParaRPr lang="en-US" sz="3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338328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Assumption</a:t>
                      </a:r>
                      <a:endParaRPr lang="en-US" sz="9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Y1</a:t>
                      </a:r>
                      <a:endParaRPr lang="en-US" sz="9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Y2</a:t>
                      </a:r>
                      <a:endParaRPr lang="en-US" sz="9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Y3</a:t>
                      </a:r>
                      <a:endParaRPr lang="en-US" sz="9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Y4</a:t>
                      </a:r>
                      <a:endParaRPr lang="en-US" sz="9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Y5</a:t>
                      </a:r>
                      <a:endParaRPr lang="en-US" sz="9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Dealer Subscribers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Listings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2,200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5,500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18,000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Transactions Closed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Transaction Value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$850K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$900K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$950K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$1.0M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$1.05M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Commission Rate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Brand Advertisers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Mktg % of Revenue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Headcount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Tax Rate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54864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rate capped at 1.0% from Year 3 onward to minimize disintermediation risk</a:t>
            </a:r>
            <a:endParaRPr lang="en-US" sz="9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FB2CA29-2227-D3D9-57CF-303F740297EA}"/>
              </a:ext>
            </a:extLst>
          </p:cNvPr>
          <p:cNvSpPr txBox="1"/>
          <p:nvPr/>
        </p:nvSpPr>
        <p:spPr>
          <a:xfrm rot="19501435">
            <a:off x="1475379" y="2297288"/>
            <a:ext cx="5415566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4800" dirty="0">
                <a:solidFill>
                  <a:srgbClr val="D9D9D9"/>
                </a:solidFill>
              </a:rPr>
              <a:t>CONFIDENTIAL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548640" y="548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Market Share Evolution</a:t>
            </a:r>
            <a:endParaRPr lang="en-US" sz="32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65760" y="1097280"/>
          <a:ext cx="50292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2"/>
          <p:cNvSpPr/>
          <p:nvPr/>
        </p:nvSpPr>
        <p:spPr>
          <a:xfrm>
            <a:off x="5852160" y="1097280"/>
            <a:ext cx="3017520" cy="32004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7" name="Text 3"/>
          <p:cNvSpPr/>
          <p:nvPr/>
        </p:nvSpPr>
        <p:spPr>
          <a:xfrm>
            <a:off x="6035040" y="11887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METRICS</a:t>
            </a:r>
            <a:endParaRPr lang="en-US" sz="800" dirty="0"/>
          </a:p>
        </p:txBody>
      </p:sp>
      <p:sp>
        <p:nvSpPr>
          <p:cNvPr id="8" name="Text 4"/>
          <p:cNvSpPr/>
          <p:nvPr/>
        </p:nvSpPr>
        <p:spPr>
          <a:xfrm>
            <a:off x="6126480" y="15544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7040880" y="15544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0.04%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7863840" y="15544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$0.3M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6126480" y="1901952"/>
            <a:ext cx="2560320" cy="0"/>
          </a:xfrm>
          <a:prstGeom prst="line">
            <a:avLst/>
          </a:prstGeom>
          <a:noFill/>
          <a:ln w="6350">
            <a:solidFill>
              <a:srgbClr val="0F172A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126480" y="208483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7040880" y="208483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0.21%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7863840" y="208483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$1.8M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126480" y="2432304"/>
            <a:ext cx="2560320" cy="0"/>
          </a:xfrm>
          <a:prstGeom prst="line">
            <a:avLst/>
          </a:prstGeom>
          <a:noFill/>
          <a:ln w="6350">
            <a:solidFill>
              <a:srgbClr val="0F172A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126480" y="261518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7040880" y="261518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0.65%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7863840" y="261518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$6.0M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6126480" y="2962656"/>
            <a:ext cx="2560320" cy="0"/>
          </a:xfrm>
          <a:prstGeom prst="line">
            <a:avLst/>
          </a:prstGeom>
          <a:noFill/>
          <a:ln w="6350">
            <a:solidFill>
              <a:srgbClr val="0F172A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126480" y="314553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4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7040880" y="3145536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1.35%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7863840" y="314553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$13.2M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6126480" y="3493008"/>
            <a:ext cx="2560320" cy="0"/>
          </a:xfrm>
          <a:prstGeom prst="line">
            <a:avLst/>
          </a:prstGeom>
          <a:noFill/>
          <a:ln w="6350">
            <a:solidFill>
              <a:srgbClr val="0F172A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6126480" y="36758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5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7040880" y="367588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2.49%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7863840" y="36758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$26.1M</a:t>
            </a:r>
            <a:endParaRPr lang="en-US" sz="1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8FF9D88-04A5-5513-B901-84A2794384BE}"/>
              </a:ext>
            </a:extLst>
          </p:cNvPr>
          <p:cNvSpPr txBox="1"/>
          <p:nvPr/>
        </p:nvSpPr>
        <p:spPr>
          <a:xfrm rot="19501435">
            <a:off x="1475379" y="2297288"/>
            <a:ext cx="5415566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4800" dirty="0">
                <a:solidFill>
                  <a:srgbClr val="D9D9D9"/>
                </a:solidFill>
              </a:rPr>
              <a:t>CONFIDENTIAL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2563EB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2" y="2346512"/>
            <a:ext cx="5486400" cy="5486400"/>
          </a:xfrm>
          <a:prstGeom prst="ellipse">
            <a:avLst/>
          </a:prstGeom>
          <a:solidFill>
            <a:srgbClr val="3B82F6">
              <a:alpha val="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731520"/>
            <a:ext cx="54864" cy="411480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234440"/>
            <a:ext cx="54864" cy="4114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1737360"/>
            <a:ext cx="54864" cy="41148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3716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Aero</a:t>
            </a:r>
            <a:r>
              <a:rPr lang="en-US" sz="52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Desk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1005840" y="22860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sky is the starting point.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05840" y="2926080"/>
            <a:ext cx="3200400" cy="1371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310896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raising $920K to build the definitive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marketplace for pre-owned aircraft.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4114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Aerodesk-ai.com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05840" y="45720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FOR QUALIFIED INVESTORS ONLY</a:t>
            </a:r>
            <a:endParaRPr lang="en-US" sz="8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5C9E3B3-ABA7-711A-A46A-B24F400584E1}"/>
              </a:ext>
            </a:extLst>
          </p:cNvPr>
          <p:cNvSpPr txBox="1"/>
          <p:nvPr/>
        </p:nvSpPr>
        <p:spPr>
          <a:xfrm rot="19501435">
            <a:off x="1475379" y="2297288"/>
            <a:ext cx="5415566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4800" dirty="0">
                <a:solidFill>
                  <a:srgbClr val="D9D9D9"/>
                </a:solidFill>
              </a:rPr>
              <a:t>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271</TotalTime>
  <Words>1088</Words>
  <Application>Microsoft Office PowerPoint</Application>
  <PresentationFormat>On-screen Show (16:9)</PresentationFormat>
  <Paragraphs>378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Aptos</vt:lpstr>
      <vt:lpstr>Aptos Display</vt:lpstr>
      <vt:lpstr>Arial</vt:lpstr>
      <vt:lpstr>Calibri</vt:lpstr>
      <vt:lpstr>Trebuchet MS</vt:lpstr>
      <vt:lpstr>Office Theme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AeroDesk - Investor Pitch Deck</dc:title>
  <dc:subject>PptxGenJS Presentation</dc:subject>
  <dc:creator>AeroDesk</dc:creator>
  <cp:lastModifiedBy>João Pedro Barros de Ávila</cp:lastModifiedBy>
  <cp:revision>2</cp:revision>
  <dcterms:created xsi:type="dcterms:W3CDTF">2026-03-09T08:50:15Z</dcterms:created>
  <dcterms:modified xsi:type="dcterms:W3CDTF">2026-03-17T04:28:20Z</dcterms:modified>
</cp:coreProperties>
</file>
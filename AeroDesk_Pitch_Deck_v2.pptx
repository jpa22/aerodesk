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308</c:v>
                </c:pt>
                <c:pt idx="2">
                  <c:v>1763</c:v>
                </c:pt>
                <c:pt idx="3">
                  <c:v>5992</c:v>
                </c:pt>
                <c:pt idx="4">
                  <c:v>13198</c:v>
                </c:pt>
                <c:pt idx="5">
                  <c:v>26095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8B-480F-A1FD-633D87740B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($K)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-65</c:v>
                </c:pt>
                <c:pt idx="1">
                  <c:v>-523</c:v>
                </c:pt>
                <c:pt idx="2">
                  <c:v>-203</c:v>
                </c:pt>
                <c:pt idx="3">
                  <c:v>2012</c:v>
                </c:pt>
                <c:pt idx="4">
                  <c:v>6808</c:v>
                </c:pt>
                <c:pt idx="5">
                  <c:v>16054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8B-480F-A1FD-633D87740B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42-4040-A77A-8AA46685A364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42-4040-A77A-8AA46685A364}"/>
              </c:ext>
            </c:extLst>
          </c:dPt>
          <c:dPt>
            <c:idx val="2"/>
            <c:bubble3D val="0"/>
            <c:spPr>
              <a:solidFill>
                <a:srgbClr val="0F1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42-4040-A77A-8AA46685A364}"/>
              </c:ext>
            </c:extLst>
          </c:dPt>
          <c:dPt>
            <c:idx val="3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42-4040-A77A-8AA46685A364}"/>
              </c:ext>
            </c:extLst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42-4040-A77A-8AA46685A364}"/>
              </c:ext>
            </c:extLst>
          </c:dPt>
          <c:dPt>
            <c:idx val="5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42-4040-A77A-8AA46685A364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42-4040-A77A-8AA46685A36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42-4040-A77A-8AA46685A36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42-4040-A77A-8AA46685A36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42-4040-A77A-8AA46685A36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42-4040-A77A-8AA46685A36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42-4040-A77A-8AA46685A36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42-4040-A77A-8AA46685A36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A42-4040-A77A-8AA46685A36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Product Dev</c:v>
                </c:pt>
                <c:pt idx="1">
                  <c:v>Marketing</c:v>
                </c:pt>
                <c:pt idx="2">
                  <c:v>Salaries</c:v>
                </c:pt>
                <c:pt idx="3">
                  <c:v>Infrastructure</c:v>
                </c:pt>
                <c:pt idx="4">
                  <c:v>Design</c:v>
                </c:pt>
                <c:pt idx="5">
                  <c:v>Legal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</c:v>
                </c:pt>
                <c:pt idx="1">
                  <c:v>240</c:v>
                </c:pt>
                <c:pt idx="2">
                  <c:v>240</c:v>
                </c:pt>
                <c:pt idx="3">
                  <c:v>36</c:v>
                </c:pt>
                <c:pt idx="4">
                  <c:v>45</c:v>
                </c:pt>
                <c:pt idx="5">
                  <c:v>30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A42-4040-A77A-8AA46685A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AeroDesk Revenue ($M)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B82F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1.76</c:v>
                </c:pt>
                <c:pt idx="2">
                  <c:v>5.99</c:v>
                </c:pt>
                <c:pt idx="3">
                  <c:v>13.2</c:v>
                </c:pt>
                <c:pt idx="4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4C-4BFA-9A81-E24432F71B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B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32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Marketplace for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Aircraft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365760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at a Glance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growing, and digitally underserved market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$37.5B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6459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2035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645920"/>
            <a:ext cx="54864" cy="13716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9,824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Executive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Fleet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9184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~900K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91840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56616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291840"/>
            <a:ext cx="54864" cy="13716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H1 2025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MRFR, GAMA, Global Jet Capital, JetNet, ANAC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$37B market running on 1990s technology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5"/>
          <p:cNvSpPr/>
          <p:nvPr/>
        </p:nvSpPr>
        <p:spPr>
          <a:xfrm>
            <a:off x="141732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UX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has App Store reviews citing "added unnecessary steps" and "deliberately less user friendly" after updates.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8328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Price Transparency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1188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valuation tools. Zero pricing intelligence. Deals rely on broker relationships and opaque negotiations.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660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920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Underserved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9,824 executive aircraft with no modern marketplace. Sellers use WhatsApp groups, fragmented classifieds, and broker networks.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011680" cy="2011680"/>
          </a:xfrm>
          <a:prstGeom prst="ellipse">
            <a:avLst/>
          </a:prstGeom>
          <a:solidFill>
            <a:srgbClr val="2563EB">
              <a:alpha val="2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05610"/>
            <a:ext cx="201168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$78.6B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428646"/>
            <a:ext cx="20116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(2035)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91840" y="1828800"/>
            <a:ext cx="1645920" cy="164592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2190902"/>
            <a:ext cx="16459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$1.4B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0" y="2618842"/>
            <a:ext cx="16459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2194560"/>
            <a:ext cx="1280160" cy="1280160"/>
          </a:xfrm>
          <a:prstGeom prst="ellipse">
            <a:avLst/>
          </a:prstGeom>
          <a:solidFill>
            <a:srgbClr val="0EA5E9">
              <a:alpha val="25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476195"/>
            <a:ext cx="128016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0" y="2809037"/>
            <a:ext cx="128016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Y5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32320" y="1463040"/>
            <a:ext cx="36576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066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jets delivered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(GAMA)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4066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66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06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0664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 growth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2025 YoY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4066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0664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10% avg)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AeroDesk </a:t>
            </a: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Webmotors of Aviation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UX meets high-value asset transactions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World-Class UX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galleries, 360° tours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smart filters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comparison tools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8328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Intelligence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5760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valuations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scoring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 dashboards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4173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Support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9224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 inspections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hub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title search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Highlights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AeroDesk, why now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Underserved Market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8016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$37.5B global market growing at 7% CAGR with zero modern digital marketplace. Controller.com generates ~$18M on legacy tech.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846320" y="1463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46304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0" y="1645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17556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Marketplace Playbook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Webmotors/Carvana model to aviation: consumer-grade UX + AI pricing + integrated financing. Proven in auto and real estate.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2606040"/>
            <a:ext cx="54864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28986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Brazil-First Advantage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8016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 GA market globally with zero dominant digital platform. Controller has no Brazil presence. First-mover with LABACE as launch event.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846320" y="2606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260604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0"/>
          <p:cNvSpPr/>
          <p:nvPr/>
        </p:nvSpPr>
        <p:spPr>
          <a:xfrm>
            <a:off x="5029200" y="2788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928" y="289864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Diversified Revenue Streams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66928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subscriptions, listing fees, commissions (capped at 1%), ancillary services (insurance, PPI, legal), data analytics, and brand advertising.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57200" y="3749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25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404164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8016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Capital-Efficient Execution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28016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$920K seed for 18 months runway. AI-assisted development (Claude Code) for lean MVP build. EBITDA positive by Year 3.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846320" y="3749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46320" y="3749040"/>
            <a:ext cx="54864" cy="9601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38" name="Shape 30"/>
          <p:cNvSpPr/>
          <p:nvPr/>
        </p:nvSpPr>
        <p:spPr>
          <a:xfrm>
            <a:off x="5029200" y="3931920"/>
            <a:ext cx="502920" cy="502920"/>
          </a:xfrm>
          <a:prstGeom prst="ellipse">
            <a:avLst/>
          </a:prstGeom>
          <a:solidFill>
            <a:srgbClr val="93C5FD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8928" y="4041648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6692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Founder-Market Fit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66928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years leading 30+ M&amp;A transactions, deep Brazil aviation network, investment banking pedigree, and technical marketplace-building capability.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6858000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Monthly Visits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Listings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UX Score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 Tools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Trade-A-Plane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AvBuyer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AeroDesk (Target)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Disruption Thesis</a:t>
            </a:r>
            <a:endParaRPr lang="en-US" sz="1400" dirty="0"/>
          </a:p>
        </p:txBody>
      </p:sp>
      <p:sp>
        <p:nvSpPr>
          <p:cNvPr id="5" name="Text 4"/>
          <p:cNvSpPr/>
          <p:nvPr/>
        </p:nvSpPr>
        <p:spPr>
          <a:xfrm>
            <a:off x="100584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generates ~$18M revenue with print-era technology. Its moat is liquidity, not product.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captures share by delivering 10x better experience — starting in Brazil where Controller has zero presence.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 — 7 Streams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monetization across SaaS, transactional, and advertising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16276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14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$180-$340/mo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1460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5087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16276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60604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$350-$550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listing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0916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94960" y="15087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16276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0060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$80-$120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90372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0" y="1508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16276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99516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0.5%-1.0%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1%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2004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05840" y="3429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712" y="354787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1148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Ancillary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1148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PPI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referrals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51460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200400" y="3429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9272" y="354787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60604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260604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$250-$450/mo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0916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5394960" y="34290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3832" y="3547872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80060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Ads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480060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$1.5K-$3.5K/mo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packages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5603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Launch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 2026 debut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founding dealers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WhatsApp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 partnership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M7-12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LatAm Expansion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328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6616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Mexico, Colombia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localization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partnerships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listings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188720"/>
            <a:ext cx="25603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M13-24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Entry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US/English market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Controller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5,500+ listings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live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148132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48132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931920"/>
            <a:ext cx="8229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229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SEO-First Content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4231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24231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Events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0233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6"/>
          <p:cNvSpPr/>
          <p:nvPr/>
        </p:nvSpPr>
        <p:spPr>
          <a:xfrm>
            <a:off x="40233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BD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235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8"/>
          <p:cNvSpPr/>
          <p:nvPr/>
        </p:nvSpPr>
        <p:spPr>
          <a:xfrm>
            <a:off x="56235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Influencer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2237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0"/>
          <p:cNvSpPr/>
          <p:nvPr/>
        </p:nvSpPr>
        <p:spPr>
          <a:xfrm>
            <a:off x="72237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(PT)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Operational Highlights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18,000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661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371600"/>
            <a:ext cx="54864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1.5M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004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1,100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00400"/>
            <a:ext cx="54864" cy="1554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5661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200400"/>
            <a:ext cx="54864" cy="155448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 TAM)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Highlights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05840"/>
            <a:ext cx="301752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612648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$26.1M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808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1264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$16.1M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9808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12648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61.5%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 Margin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264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$13.6M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Net Income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264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9808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(10x exit)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Progression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941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Proceeds — $920K Seed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reach EBITDA breakeven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128016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0" y="132588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0" y="1325880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3441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548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web + mobile app, search infra, AI engine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72400" y="1344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$280K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0" y="1600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0" y="2020824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020824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&amp; GTM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54880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LABACE, SEO, Google Ads, content, BD outreach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772400" y="2039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772400" y="2295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0" y="2715768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2715768"/>
            <a:ext cx="54864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2734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Salaries &amp; Ops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5488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(2 co-founders + early hires), 18mo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772400" y="2734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72400" y="2990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572000" y="3410712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72000" y="3410712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3"/>
          <p:cNvSpPr/>
          <p:nvPr/>
        </p:nvSpPr>
        <p:spPr>
          <a:xfrm>
            <a:off x="4754880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 + Design + Legal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branding, compliance, entity setup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772400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$111K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772400" y="3685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572000" y="4105656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72000" y="4105656"/>
            <a:ext cx="54864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4123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754880" y="4379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unforeseen costs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772400" y="41239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$49K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77240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Assumptions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Assumption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Subscribers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Listings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Transaction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Advertisers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Mktg % of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capped at 1.0% from Year 3 onward to minimize disintermediation risk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3716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 Evolution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97280"/>
            <a:ext cx="3017520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3"/>
          <p:cNvSpPr/>
          <p:nvPr/>
        </p:nvSpPr>
        <p:spPr>
          <a:xfrm>
            <a:off x="60350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METRICS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12648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04088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6384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901952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40880" y="2084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0.21%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6384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2432304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040880" y="2615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0.65%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86384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$6.0M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2962656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40880" y="3145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1.35%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86384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$13.2M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3493008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040880" y="3675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2.49%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86384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$26.1M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the starting point.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32004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$920K to build the definitive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 for pre-owned aircraft.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aerodesk.com  |  hello@aerodesk.com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QUALIFIED INVESTORS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1091</Words>
  <Application>Microsoft Office PowerPoint</Application>
  <PresentationFormat>On-screen Show (16:9)</PresentationFormat>
  <Paragraphs>376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AeroDesk - Investor Pitch Deck</dc:title>
  <dc:subject>PptxGenJS Presentation</dc:subject>
  <dc:creator>AeroDesk</dc:creator>
  <cp:lastModifiedBy>João Pedro Barros de Ávila</cp:lastModifiedBy>
  <cp:revision>1</cp:revision>
  <dcterms:created xsi:type="dcterms:W3CDTF">2026-03-09T08:50:15Z</dcterms:created>
  <dcterms:modified xsi:type="dcterms:W3CDTF">2026-03-09T11:29:34Z</dcterms:modified>
</cp:coreProperties>
</file>
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308</c:v>
                </c:pt>
                <c:pt idx="2">
                  <c:v>1763</c:v>
                </c:pt>
                <c:pt idx="3">
                  <c:v>5992</c:v>
                </c:pt>
                <c:pt idx="4">
                  <c:v>13198</c:v>
                </c:pt>
                <c:pt idx="5">
                  <c:v>26095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D-4AAE-B1D1-4AAFCFC942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($K)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-65</c:v>
                </c:pt>
                <c:pt idx="1">
                  <c:v>-523</c:v>
                </c:pt>
                <c:pt idx="2">
                  <c:v>-203</c:v>
                </c:pt>
                <c:pt idx="3">
                  <c:v>2012</c:v>
                </c:pt>
                <c:pt idx="4">
                  <c:v>6808</c:v>
                </c:pt>
                <c:pt idx="5">
                  <c:v>16054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8D-4AAE-B1D1-4AAFCFC942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F6-4A99-B0B4-F0CA151A3B4D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F6-4A99-B0B4-F0CA151A3B4D}"/>
              </c:ext>
            </c:extLst>
          </c:dPt>
          <c:dPt>
            <c:idx val="2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F6-4A99-B0B4-F0CA151A3B4D}"/>
              </c:ext>
            </c:extLst>
          </c:dPt>
          <c:dPt>
            <c:idx val="3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F6-4A99-B0B4-F0CA151A3B4D}"/>
              </c:ext>
            </c:extLst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F6-4A99-B0B4-F0CA151A3B4D}"/>
              </c:ext>
            </c:extLst>
          </c:dPt>
          <c:dPt>
            <c:idx val="5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F6-4A99-B0B4-F0CA151A3B4D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EF6-4A99-B0B4-F0CA151A3B4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F6-4A99-B0B4-F0CA151A3B4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F6-4A99-B0B4-F0CA151A3B4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F6-4A99-B0B4-F0CA151A3B4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F6-4A99-B0B4-F0CA151A3B4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F6-4A99-B0B4-F0CA151A3B4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EF6-4A99-B0B4-F0CA151A3B4D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EF6-4A99-B0B4-F0CA151A3B4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Product Dev</c:v>
                </c:pt>
                <c:pt idx="1">
                  <c:v>Marketing</c:v>
                </c:pt>
                <c:pt idx="2">
                  <c:v>Salaries</c:v>
                </c:pt>
                <c:pt idx="3">
                  <c:v>Infrastructure</c:v>
                </c:pt>
                <c:pt idx="4">
                  <c:v>Design</c:v>
                </c:pt>
                <c:pt idx="5">
                  <c:v>Legal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240</c:v>
                </c:pt>
                <c:pt idx="2">
                  <c:v>240</c:v>
                </c:pt>
                <c:pt idx="3">
                  <c:v>36</c:v>
                </c:pt>
                <c:pt idx="4">
                  <c:v>45</c:v>
                </c:pt>
                <c:pt idx="5">
                  <c:v>30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F6-4A99-B0B4-F0CA151A3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AeroDesk Revenue ($M)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B82F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1.76</c:v>
                </c:pt>
                <c:pt idx="2">
                  <c:v>5.99</c:v>
                </c:pt>
                <c:pt idx="3">
                  <c:v>13.2</c:v>
                </c:pt>
                <c:pt idx="4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B-464A-AEDF-548FD4CAE8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38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5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Marketplace for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Aircraft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347472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  |  CONFIDENTIAL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$37.5B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Aircraft Market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517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to 2035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9,824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Exec Fleet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4088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~900K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Visits/mo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$37B market running on 1990s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6916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UX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Controller.com, the market leader with 900K monthly visits, has App Store reviews citing "added unnecessary steps" and "deliberately less user friendly" after updates.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Price Transparency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valuation tools. Buyers have zero pricing intelligence. Deals rely on broker relationships and opaque negotiations.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16916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8288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Underserved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2834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9,824 executive aircraft with no modern marketplace. Sellers use WhatsApp groups, fragmented classifieds (AeronavesAVenda ~569 listings), and broker networks.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011680" cy="2011680"/>
          </a:xfrm>
          <a:prstGeom prst="ellipse">
            <a:avLst/>
          </a:prstGeom>
          <a:solidFill>
            <a:srgbClr val="2563EB">
              <a:alpha val="2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82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$78.6B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85416"/>
            <a:ext cx="20116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Used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(2035 projected)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1645920" cy="164592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9751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2386584"/>
            <a:ext cx="1645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Aircraft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1280160" cy="1280160"/>
          </a:xfrm>
          <a:prstGeom prst="ellipse">
            <a:avLst/>
          </a:prstGeom>
          <a:solidFill>
            <a:srgbClr val="0EA5E9">
              <a:alpha val="25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2677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2587752"/>
            <a:ext cx="1280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Y5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32320" y="1280160"/>
            <a:ext cx="36576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jets delivered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(GAMA)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066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$55.5B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backlogs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2025)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40664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+9.1%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Pre-owned txn growth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2025 YoY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40664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10% avg)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MRFR, GAMA, Global Jet Capital, JetNet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3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is the Webmotors of Aviation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UX meets high-value asset transactions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World-Class UX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galleries, 360° tours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smart filters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comparison tools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46304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Intelligence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valuations (AVM)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scoring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 dashboards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63040"/>
            <a:ext cx="2560320" cy="9144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54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Support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Pre-purchase inspection network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hub (rate comparison)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title search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Legal/contract coordination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685800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Monthly Visits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Listings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UX Score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Mobile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AI Tools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Trade-A-Plane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AvBuyer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AeroDesk (Target)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Disruption Thesis</a:t>
            </a:r>
            <a:endParaRPr lang="en-US" sz="1400" dirty="0"/>
          </a:p>
        </p:txBody>
      </p:sp>
      <p:sp>
        <p:nvSpPr>
          <p:cNvPr id="3" name="Text 3"/>
          <p:cNvSpPr/>
          <p:nvPr/>
        </p:nvSpPr>
        <p:spPr>
          <a:xfrm>
            <a:off x="1005840" y="3840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Controller.com generates ~$18M revenue with legacy technology inherited from print classifieds.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competitive advantage is purely liquidity-based, not product-based. User reviews confirm frustration.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can capture share by delivering 10x better experience — starting in Brazil where Controller has zero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7 Streams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monetization across SaaS, transactional, and advertising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4447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148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$180-$340/mo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14600" y="11887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3258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4447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60604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$350-$550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09160" y="11887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94960" y="132588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4447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80060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$80-$120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903720" y="118872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0" y="13258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4447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18745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99516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0.5%-1.0%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1%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310896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5840" y="3246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33649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Ancillary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1148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PPI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referrals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14600" y="310896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0" y="32461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3649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0604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60604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$250-$450/mo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709160" y="3108960"/>
            <a:ext cx="19659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394960" y="32461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336499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0060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Ads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80060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$1.5K-$3.5K/mo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packages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Brazil 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 2026 debut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founding dealers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WhatsApp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 partnership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M7-12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LatAm Expansion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7830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920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Mexico, Colombia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localization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partnerships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listings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M13-24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Entry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920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US/English market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Controller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5,500+ listings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engine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38988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389888"/>
            <a:ext cx="4572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82296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14173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SEO-First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4160520"/>
            <a:ext cx="14173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Events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023360" y="4160520"/>
            <a:ext cx="14173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BD Outreach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23560" y="4160520"/>
            <a:ext cx="14173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Influencer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4160520"/>
            <a:ext cx="14173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(PT)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80160"/>
            <a:ext cx="54864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Unique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1,100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08960"/>
            <a:ext cx="54864" cy="1554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5661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560320" cy="155448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108960"/>
            <a:ext cx="54864" cy="15544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 TAM)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Highlights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538944546"/>
              </p:ext>
            </p:extLst>
          </p:nvPr>
        </p:nvGraphicFramePr>
        <p:xfrm>
          <a:off x="457200" y="922084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914400"/>
            <a:ext cx="301752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612648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$26.1M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9808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1264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$16.1M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264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61.5%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0" y="2057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EBITDA Margin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$13.6M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Net Income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9808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(10x exit)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Progression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1042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(181%)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Proceeds — $920K Seed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 to reach EBITDA breakeven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143000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0" y="114300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4754880" y="1161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Development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web + mobile app, search infra, AI engine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1161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$280K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1856232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85623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GTM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LABACE, SEO, Google Ads, content, BD outreach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0" y="2569464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2569464"/>
            <a:ext cx="54864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2587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Salaries &amp; Ops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(2 co-founders + early hires), 18mo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0" y="3282696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0" y="3282696"/>
            <a:ext cx="54864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300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 + Design + Legal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35570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branding, compliance, entity setup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72400" y="3300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$111K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0" y="35570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0" y="3995928"/>
            <a:ext cx="42976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0" y="3995928"/>
            <a:ext cx="54864" cy="594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4014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54880" y="4270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unforeseen costs and opportunities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4014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$49K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772400" y="4270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Assumptions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Y1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Y2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Y3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Y4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Y5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Subscribers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Listings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Transaction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Advertisers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Mktg % of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capped at 1.0% from Year 3 onward to minimize disintermediation risk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Share Evolution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05840"/>
            <a:ext cx="301752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2"/>
          <p:cNvSpPr/>
          <p:nvPr/>
        </p:nvSpPr>
        <p:spPr>
          <a:xfrm>
            <a:off x="60350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METRICS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04088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0.04%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40880" y="2011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0.21%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331720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40880" y="2514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2834640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4088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1.35%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638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$13.2M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3337560"/>
            <a:ext cx="2560320" cy="0"/>
          </a:xfrm>
          <a:prstGeom prst="line">
            <a:avLst/>
          </a:prstGeom>
          <a:noFill/>
          <a:ln w="6350">
            <a:solidFill>
              <a:srgbClr val="0F1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40880" y="3520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2.49%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6384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$26.1M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Controller.com (~$20M est. revenue)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r>
              <a:rPr lang="en-US" sz="4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the starting point.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834640"/>
            <a:ext cx="3200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$920K to build the definitive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for pre-owned aircraft.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aerodesk.com  |  hello@aerodesk.com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QUALIFIED INVESTORS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917</Words>
  <Application>Microsoft Office PowerPoint</Application>
  <PresentationFormat>On-screen Show (16:9)</PresentationFormat>
  <Paragraphs>336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AeroDesk - Investor Pitch Deck</dc:title>
  <dc:subject>PptxGenJS Presentation</dc:subject>
  <dc:creator>AeroDesk</dc:creator>
  <cp:lastModifiedBy>João Pedro Barros de Ávila</cp:lastModifiedBy>
  <cp:revision>2</cp:revision>
  <dcterms:created xsi:type="dcterms:W3CDTF">2026-03-08T21:20:07Z</dcterms:created>
  <dcterms:modified xsi:type="dcterms:W3CDTF">2026-03-09T00:37:19Z</dcterms:modified>
</cp:coreProperties>
</file>